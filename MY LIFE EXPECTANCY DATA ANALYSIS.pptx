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5"/>
    <p:sldMasterId id="214748370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Barlow ExtraLight"/>
      <p:regular r:id="rId32"/>
      <p:bold r:id="rId33"/>
      <p:italic r:id="rId34"/>
      <p:boldItalic r:id="rId35"/>
    </p:embeddedFont>
    <p:embeddedFont>
      <p:font typeface="Hepta Slab Medium"/>
      <p:regular r:id="rId36"/>
      <p:bold r:id="rId37"/>
    </p:embeddedFont>
    <p:embeddedFont>
      <p:font typeface="Hepta Slab Light"/>
      <p:regular r:id="rId38"/>
      <p:bold r:id="rId39"/>
    </p:embeddedFont>
    <p:embeddedFont>
      <p:font typeface="Hepta Slab"/>
      <p:regular r:id="rId40"/>
      <p:bold r:id="rId41"/>
    </p:embeddedFont>
    <p:embeddedFont>
      <p:font typeface="Barlow Medium"/>
      <p:regular r:id="rId42"/>
      <p:bold r:id="rId43"/>
      <p:italic r:id="rId44"/>
      <p:boldItalic r:id="rId45"/>
    </p:embeddedFont>
    <p:embeddedFont>
      <p:font typeface="Barlow Light"/>
      <p:regular r:id="rId46"/>
      <p:bold r:id="rId47"/>
      <p:italic r:id="rId48"/>
      <p:boldItalic r:id="rId49"/>
    </p:embeddedFont>
    <p:embeddedFont>
      <p:font typeface="Barlow"/>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251854-B5E9-4AEF-8513-373DF68D7002}">
  <a:tblStyle styleId="{5E251854-B5E9-4AEF-8513-373DF68D700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ptaSlab-regular.fntdata"/><Relationship Id="rId42" Type="http://schemas.openxmlformats.org/officeDocument/2006/relationships/font" Target="fonts/BarlowMedium-regular.fntdata"/><Relationship Id="rId41" Type="http://schemas.openxmlformats.org/officeDocument/2006/relationships/font" Target="fonts/HeptaSlab-bold.fntdata"/><Relationship Id="rId44" Type="http://schemas.openxmlformats.org/officeDocument/2006/relationships/font" Target="fonts/BarlowMedium-italic.fntdata"/><Relationship Id="rId43" Type="http://schemas.openxmlformats.org/officeDocument/2006/relationships/font" Target="fonts/BarlowMedium-bold.fntdata"/><Relationship Id="rId46" Type="http://schemas.openxmlformats.org/officeDocument/2006/relationships/font" Target="fonts/BarlowLight-regular.fntdata"/><Relationship Id="rId45" Type="http://schemas.openxmlformats.org/officeDocument/2006/relationships/font" Target="fonts/Barlow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BarlowLight-italic.fntdata"/><Relationship Id="rId47" Type="http://schemas.openxmlformats.org/officeDocument/2006/relationships/font" Target="fonts/BarlowLight-bold.fntdata"/><Relationship Id="rId49" Type="http://schemas.openxmlformats.org/officeDocument/2006/relationships/font" Target="fonts/BarlowLight-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font" Target="fonts/BarlowExtraLight-bold.fntdata"/><Relationship Id="rId32" Type="http://schemas.openxmlformats.org/officeDocument/2006/relationships/font" Target="fonts/BarlowExtraLight-regular.fntdata"/><Relationship Id="rId35" Type="http://schemas.openxmlformats.org/officeDocument/2006/relationships/font" Target="fonts/BarlowExtraLight-boldItalic.fntdata"/><Relationship Id="rId34" Type="http://schemas.openxmlformats.org/officeDocument/2006/relationships/font" Target="fonts/BarlowExtraLight-italic.fntdata"/><Relationship Id="rId37" Type="http://schemas.openxmlformats.org/officeDocument/2006/relationships/font" Target="fonts/HeptaSlabMedium-bold.fntdata"/><Relationship Id="rId36" Type="http://schemas.openxmlformats.org/officeDocument/2006/relationships/font" Target="fonts/HeptaSlabMedium-regular.fntdata"/><Relationship Id="rId39" Type="http://schemas.openxmlformats.org/officeDocument/2006/relationships/font" Target="fonts/HeptaSlabLight-bold.fntdata"/><Relationship Id="rId38" Type="http://schemas.openxmlformats.org/officeDocument/2006/relationships/font" Target="fonts/HeptaSlabLight-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Barlow-bold.fntdata"/><Relationship Id="rId50" Type="http://schemas.openxmlformats.org/officeDocument/2006/relationships/font" Target="fonts/Barlow-regular.fntdata"/><Relationship Id="rId53" Type="http://schemas.openxmlformats.org/officeDocument/2006/relationships/font" Target="fonts/Barlow-boldItalic.fntdata"/><Relationship Id="rId52" Type="http://schemas.openxmlformats.org/officeDocument/2006/relationships/font" Target="fonts/Barlow-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1b83e95a7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1b83e95a7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1b83e95a72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1b83e95a72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All of us?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Life expectancy, the average amount of years a person is expected to live, is crucial to assessing population health. A measure of who we are, how we live, and what shapes a healthy life. In our global health class, we learn about life beyond just being a health metric, as it ties to policy-making, healthcare investment, community/schooling environments, and resource allocation. With this in mind, we wanted to look at all these factors and conduct a statistical analysis on its many factors.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Most studies undertaken in the past on factors affecting life expectancy considers primarily demographic variables, income composition and mortality rates. This Life Expectancy dataset we have found from WHO (World Health Organization) goes beyond.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It takes into account factors like the HDI, which is a holistic measure assessing country development (using not only economic growth but also average annual income, education and more).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Also this dataset includes immunization factors like Polio and Hepatitis B, which is important because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Plus, most of these studies relied on single-year global data. This dataset spans from 2000 to 2015.</a:t>
            </a:r>
            <a:endParaRPr>
              <a:solidFill>
                <a:schemeClr val="dk1"/>
              </a:solidFill>
            </a:endParaRPr>
          </a:p>
          <a:p>
            <a:pPr indent="-298450" lvl="0" marL="457200" rtl="0" algn="l">
              <a:spcBef>
                <a:spcPts val="0"/>
              </a:spcBef>
              <a:spcAft>
                <a:spcPts val="0"/>
              </a:spcAft>
              <a:buSzPts val="1100"/>
              <a:buChar char="-"/>
            </a:pPr>
            <a:r>
              <a:rPr lang="en"/>
              <a:t>Our data consists of about 179 countries from (as mentioned from) the years 2000-2015. There are originally 21 variables and 2,864 rows to start with.</a:t>
            </a:r>
            <a:endParaRPr/>
          </a:p>
          <a:p>
            <a:pPr indent="-298450" lvl="0" marL="457200" rtl="0" algn="l">
              <a:spcBef>
                <a:spcPts val="0"/>
              </a:spcBef>
              <a:spcAft>
                <a:spcPts val="0"/>
              </a:spcAft>
              <a:buSzPts val="1100"/>
              <a:buChar char="-"/>
            </a:pPr>
            <a:r>
              <a:rPr lang="en"/>
              <a:t>Our primary question was:  What are the most decisive predictive factors influencing global life expectancy?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1b83e95a72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1b83e95a72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Gelila</a:t>
            </a:r>
            <a:endParaRPr/>
          </a:p>
          <a:p>
            <a:pPr indent="-298450" lvl="0" marL="457200" rtl="0" algn="l">
              <a:spcBef>
                <a:spcPts val="0"/>
              </a:spcBef>
              <a:spcAft>
                <a:spcPts val="0"/>
              </a:spcAft>
              <a:buSzPts val="1100"/>
              <a:buChar char="-"/>
            </a:pPr>
            <a:r>
              <a:rPr lang="en"/>
              <a:t>We removed four variables: Country, Region, Year, and Economy_status_Developing/Economy_status_Developed. </a:t>
            </a:r>
            <a:endParaRPr/>
          </a:p>
          <a:p>
            <a:pPr indent="-298450" lvl="0" marL="457200" rtl="0" algn="l">
              <a:spcBef>
                <a:spcPts val="0"/>
              </a:spcBef>
              <a:spcAft>
                <a:spcPts val="0"/>
              </a:spcAft>
              <a:buSzPts val="1100"/>
              <a:buChar char="-"/>
            </a:pPr>
            <a:r>
              <a:rPr lang="en"/>
              <a:t>While the country or region associated with each data row could be valuable for </a:t>
            </a:r>
            <a:r>
              <a:rPr b="1" lang="en"/>
              <a:t>geographical</a:t>
            </a:r>
            <a:r>
              <a:rPr lang="en"/>
              <a:t> analysis, these variables do not directly contribute our research question! We want to understand the statistical relationships between key health and socioeconomic factors affecting life expectancy. Categorical variables like this don’t directly influence it.</a:t>
            </a:r>
            <a:endParaRPr/>
          </a:p>
          <a:p>
            <a:pPr indent="-298450" lvl="0" marL="457200" rtl="0" algn="l">
              <a:spcBef>
                <a:spcPts val="0"/>
              </a:spcBef>
              <a:spcAft>
                <a:spcPts val="0"/>
              </a:spcAft>
              <a:buSzPts val="1100"/>
              <a:buChar char="-"/>
            </a:pPr>
            <a:r>
              <a:rPr lang="en"/>
              <a:t>Logically, adult_mortality was removed as well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To start we began with preliminary data exploration. From plotting one can see that: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Schooling, GDP_per_capita, and Diphtheria-&gt; a positive (ish) correlation with life expectancy, suggesting that higher levels of these factors contribute to longer lives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Some variables, like Population_mln, show weak or inconsistent relationships, indicating they may have limited direct influence on life expectancy.</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we looked at the correlation of this to double check. Testing the correlation between a few of the variables and Life Expectancy have shown that this dataset will be useful to test the influence of predictive factors on Life Expectancy.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1bc057cb5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1bc057cb5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Variation Inflation Factor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1bd7488393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1bd7488393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1b83e95a72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1b83e95a72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1b83e95a72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1b83e95a72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To begin our analysis, we started with creating a first order model. This model depicts the relationship between life expectancy as a function of our independent variables. The equation for our first order model is as follows.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1b83e95a72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1b83e95a72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1bc057cb5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1bc057cb5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variables that were removed were Polio, Measles, Diptheria, Population in millions, and Thinness five-nine years</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1bc057cb53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1bc057cb53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1bfd0fb7d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1bfd0fb7d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1b83e95a7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1b83e95a7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1bc057cb53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1bc057cb53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We then ran backwards stepwise regression. Same output.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1bc057cb53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1bc057cb53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We then ran backwards stepwise regression. Same output.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1bc057cb53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1bc057cb53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We then ran backwards stepwise regression. Same output.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1bc057cb53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1bc057cb53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Hypothesized a complete 2nd order model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1be37795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1be37795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Elijah</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1bc057cb53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1bc057cb53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We then ran backwards stepwise regression. Same output.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1bc057cb53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1bc057cb53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We then ran backwards stepwise regression. Same output.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1be37795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1be37795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Coefficient of variation the ratio of the estimated standard deviation of Epsilon to the sample mean of the dependent variable y bar. Measured as a percentage.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1be377955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1be377955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55 Betas including the intercept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1bc057cb53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1bc057cb53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Gelila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1bfd0fb7d8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1bfd0fb7d8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76" name="Shape 176"/>
        <p:cNvGrpSpPr/>
        <p:nvPr/>
      </p:nvGrpSpPr>
      <p:grpSpPr>
        <a:xfrm>
          <a:off x="0" y="0"/>
          <a:ext cx="0" cy="0"/>
          <a:chOff x="0" y="0"/>
          <a:chExt cx="0" cy="0"/>
        </a:xfrm>
      </p:grpSpPr>
      <p:sp>
        <p:nvSpPr>
          <p:cNvPr id="177" name="Google Shape;177;p3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78" name="Google Shape;178;p3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79" name="Google Shape;179;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80" name="Shape 180"/>
        <p:cNvGrpSpPr/>
        <p:nvPr/>
      </p:nvGrpSpPr>
      <p:grpSpPr>
        <a:xfrm>
          <a:off x="0" y="0"/>
          <a:ext cx="0" cy="0"/>
          <a:chOff x="0" y="0"/>
          <a:chExt cx="0" cy="0"/>
        </a:xfrm>
      </p:grpSpPr>
      <p:sp>
        <p:nvSpPr>
          <p:cNvPr id="181" name="Google Shape;181;p36"/>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6"/>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83" name="Google Shape;183;p36"/>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84" name="Google Shape;184;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85" name="Shape 185"/>
        <p:cNvGrpSpPr/>
        <p:nvPr/>
      </p:nvGrpSpPr>
      <p:grpSpPr>
        <a:xfrm>
          <a:off x="0" y="0"/>
          <a:ext cx="0" cy="0"/>
          <a:chOff x="0" y="0"/>
          <a:chExt cx="0" cy="0"/>
        </a:xfrm>
      </p:grpSpPr>
      <p:sp>
        <p:nvSpPr>
          <p:cNvPr id="186" name="Google Shape;186;p37"/>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87" name="Google Shape;187;p37"/>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88" name="Google Shape;188;p37"/>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89" name="Google Shape;189;p37"/>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0" name="Google Shape;190;p37"/>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1" name="Google Shape;191;p37"/>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2" name="Google Shape;192;p37"/>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3" name="Google Shape;193;p37"/>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4" name="Google Shape;194;p37"/>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5" name="Google Shape;195;p37"/>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6" name="Google Shape;196;p37"/>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7" name="Google Shape;197;p37"/>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8" name="Google Shape;198;p37"/>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9" name="Google Shape;199;p37"/>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0" name="Google Shape;200;p37"/>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1" name="Google Shape;201;p37"/>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2" name="Google Shape;202;p37"/>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3" name="Google Shape;203;p37"/>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4" name="Google Shape;204;p37"/>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5" name="Google Shape;205;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206" name="Shape 206"/>
        <p:cNvGrpSpPr/>
        <p:nvPr/>
      </p:nvGrpSpPr>
      <p:grpSpPr>
        <a:xfrm>
          <a:off x="0" y="0"/>
          <a:ext cx="0" cy="0"/>
          <a:chOff x="0" y="0"/>
          <a:chExt cx="0" cy="0"/>
        </a:xfrm>
      </p:grpSpPr>
      <p:sp>
        <p:nvSpPr>
          <p:cNvPr id="207" name="Google Shape;207;p38"/>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8"/>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209" name="Google Shape;209;p38"/>
          <p:cNvSpPr/>
          <p:nvPr>
            <p:ph idx="2" type="pic"/>
          </p:nvPr>
        </p:nvSpPr>
        <p:spPr>
          <a:xfrm>
            <a:off x="3915225" y="1631250"/>
            <a:ext cx="4441200" cy="3009900"/>
          </a:xfrm>
          <a:prstGeom prst="roundRect">
            <a:avLst>
              <a:gd fmla="val 16667" name="adj"/>
            </a:avLst>
          </a:prstGeom>
          <a:noFill/>
          <a:ln>
            <a:noFill/>
          </a:ln>
        </p:spPr>
      </p:sp>
      <p:sp>
        <p:nvSpPr>
          <p:cNvPr id="210" name="Google Shape;210;p38"/>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11" name="Google Shape;211;p38"/>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2" name="Google Shape;212;p3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213" name="Shape 213"/>
        <p:cNvGrpSpPr/>
        <p:nvPr/>
      </p:nvGrpSpPr>
      <p:grpSpPr>
        <a:xfrm>
          <a:off x="0" y="0"/>
          <a:ext cx="0" cy="0"/>
          <a:chOff x="0" y="0"/>
          <a:chExt cx="0" cy="0"/>
        </a:xfrm>
      </p:grpSpPr>
      <p:sp>
        <p:nvSpPr>
          <p:cNvPr id="214" name="Google Shape;214;p39"/>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9"/>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6" name="Google Shape;216;p39"/>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7" name="Google Shape;217;p39"/>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8" name="Google Shape;218;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219" name="Shape 219"/>
        <p:cNvGrpSpPr/>
        <p:nvPr/>
      </p:nvGrpSpPr>
      <p:grpSpPr>
        <a:xfrm>
          <a:off x="0" y="0"/>
          <a:ext cx="0" cy="0"/>
          <a:chOff x="0" y="0"/>
          <a:chExt cx="0" cy="0"/>
        </a:xfrm>
      </p:grpSpPr>
      <p:sp>
        <p:nvSpPr>
          <p:cNvPr id="220" name="Google Shape;220;p40"/>
          <p:cNvSpPr/>
          <p:nvPr>
            <p:ph idx="2" type="pic"/>
          </p:nvPr>
        </p:nvSpPr>
        <p:spPr>
          <a:xfrm>
            <a:off x="791150" y="522900"/>
            <a:ext cx="1294800" cy="1918500"/>
          </a:xfrm>
          <a:prstGeom prst="rect">
            <a:avLst/>
          </a:prstGeom>
          <a:noFill/>
          <a:ln>
            <a:noFill/>
          </a:ln>
        </p:spPr>
      </p:sp>
      <p:sp>
        <p:nvSpPr>
          <p:cNvPr id="221" name="Google Shape;221;p40"/>
          <p:cNvSpPr/>
          <p:nvPr>
            <p:ph idx="3" type="pic"/>
          </p:nvPr>
        </p:nvSpPr>
        <p:spPr>
          <a:xfrm>
            <a:off x="2355375" y="522900"/>
            <a:ext cx="1294800" cy="1918500"/>
          </a:xfrm>
          <a:prstGeom prst="rect">
            <a:avLst/>
          </a:prstGeom>
          <a:noFill/>
          <a:ln>
            <a:noFill/>
          </a:ln>
        </p:spPr>
      </p:sp>
      <p:sp>
        <p:nvSpPr>
          <p:cNvPr id="222" name="Google Shape;222;p40"/>
          <p:cNvSpPr/>
          <p:nvPr>
            <p:ph idx="4" type="pic"/>
          </p:nvPr>
        </p:nvSpPr>
        <p:spPr>
          <a:xfrm>
            <a:off x="3921313" y="522900"/>
            <a:ext cx="1294800" cy="1918500"/>
          </a:xfrm>
          <a:prstGeom prst="rect">
            <a:avLst/>
          </a:prstGeom>
          <a:noFill/>
          <a:ln>
            <a:noFill/>
          </a:ln>
        </p:spPr>
      </p:sp>
      <p:sp>
        <p:nvSpPr>
          <p:cNvPr id="223" name="Google Shape;223;p40"/>
          <p:cNvSpPr/>
          <p:nvPr>
            <p:ph idx="5" type="pic"/>
          </p:nvPr>
        </p:nvSpPr>
        <p:spPr>
          <a:xfrm>
            <a:off x="5491588" y="522900"/>
            <a:ext cx="1294800" cy="1918500"/>
          </a:xfrm>
          <a:prstGeom prst="rect">
            <a:avLst/>
          </a:prstGeom>
          <a:noFill/>
          <a:ln>
            <a:noFill/>
          </a:ln>
        </p:spPr>
      </p:sp>
      <p:sp>
        <p:nvSpPr>
          <p:cNvPr id="224" name="Google Shape;224;p40"/>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225" name="Google Shape;225;p40"/>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6" name="Google Shape;226;p40"/>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7" name="Google Shape;227;p40"/>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8" name="Google Shape;228;p40"/>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9" name="Google Shape;229;p40"/>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30" name="Google Shape;230;p40"/>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1" name="Google Shape;231;p40"/>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2" name="Google Shape;232;p40"/>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3" name="Google Shape;233;p40"/>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4" name="Google Shape;234;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235" name="Shape 235"/>
        <p:cNvGrpSpPr/>
        <p:nvPr/>
      </p:nvGrpSpPr>
      <p:grpSpPr>
        <a:xfrm>
          <a:off x="0" y="0"/>
          <a:ext cx="0" cy="0"/>
          <a:chOff x="0" y="0"/>
          <a:chExt cx="0" cy="0"/>
        </a:xfrm>
      </p:grpSpPr>
      <p:sp>
        <p:nvSpPr>
          <p:cNvPr id="236" name="Google Shape;236;p41"/>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237" name="Google Shape;237;p41"/>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38" name="Google Shape;238;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239" name="Shape 239"/>
        <p:cNvGrpSpPr/>
        <p:nvPr/>
      </p:nvGrpSpPr>
      <p:grpSpPr>
        <a:xfrm>
          <a:off x="0" y="0"/>
          <a:ext cx="0" cy="0"/>
          <a:chOff x="0" y="0"/>
          <a:chExt cx="0" cy="0"/>
        </a:xfrm>
      </p:grpSpPr>
      <p:sp>
        <p:nvSpPr>
          <p:cNvPr id="240" name="Google Shape;240;p42"/>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41" name="Google Shape;241;p42"/>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242" name="Google Shape;242;p42"/>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43" name="Google Shape;243;p4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44" name="Shape 244"/>
        <p:cNvGrpSpPr/>
        <p:nvPr/>
      </p:nvGrpSpPr>
      <p:grpSpPr>
        <a:xfrm>
          <a:off x="0" y="0"/>
          <a:ext cx="0" cy="0"/>
          <a:chOff x="0" y="0"/>
          <a:chExt cx="0" cy="0"/>
        </a:xfrm>
      </p:grpSpPr>
      <p:sp>
        <p:nvSpPr>
          <p:cNvPr id="245" name="Google Shape;245;p43"/>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6" name="Google Shape;246;p43"/>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7" name="Google Shape;247;p43"/>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8" name="Google Shape;248;p43"/>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9" name="Google Shape;249;p43"/>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50" name="Google Shape;250;p43"/>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51" name="Google Shape;251;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52" name="Shape 252"/>
        <p:cNvGrpSpPr/>
        <p:nvPr/>
      </p:nvGrpSpPr>
      <p:grpSpPr>
        <a:xfrm>
          <a:off x="0" y="0"/>
          <a:ext cx="0" cy="0"/>
          <a:chOff x="0" y="0"/>
          <a:chExt cx="0" cy="0"/>
        </a:xfrm>
      </p:grpSpPr>
      <p:sp>
        <p:nvSpPr>
          <p:cNvPr id="253" name="Google Shape;253;p44"/>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54" name="Google Shape;254;p44"/>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55" name="Google Shape;255;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56" name="Shape 256"/>
        <p:cNvGrpSpPr/>
        <p:nvPr/>
      </p:nvGrpSpPr>
      <p:grpSpPr>
        <a:xfrm>
          <a:off x="0" y="0"/>
          <a:ext cx="0" cy="0"/>
          <a:chOff x="0" y="0"/>
          <a:chExt cx="0" cy="0"/>
        </a:xfrm>
      </p:grpSpPr>
      <p:sp>
        <p:nvSpPr>
          <p:cNvPr id="257" name="Google Shape;257;p4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58" name="Google Shape;258;p4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59" name="Google Shape;259;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60" name="Shape 260"/>
        <p:cNvGrpSpPr/>
        <p:nvPr/>
      </p:nvGrpSpPr>
      <p:grpSpPr>
        <a:xfrm>
          <a:off x="0" y="0"/>
          <a:ext cx="0" cy="0"/>
          <a:chOff x="0" y="0"/>
          <a:chExt cx="0" cy="0"/>
        </a:xfrm>
      </p:grpSpPr>
      <p:sp>
        <p:nvSpPr>
          <p:cNvPr id="261" name="Google Shape;261;p46"/>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6"/>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63" name="Google Shape;263;p46"/>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64" name="Google Shape;264;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65" name="Google Shape;265;p46"/>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6"/>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67" name="Shape 267"/>
        <p:cNvGrpSpPr/>
        <p:nvPr/>
      </p:nvGrpSpPr>
      <p:grpSpPr>
        <a:xfrm>
          <a:off x="0" y="0"/>
          <a:ext cx="0" cy="0"/>
          <a:chOff x="0" y="0"/>
          <a:chExt cx="0" cy="0"/>
        </a:xfrm>
      </p:grpSpPr>
      <p:sp>
        <p:nvSpPr>
          <p:cNvPr id="268" name="Google Shape;268;p47"/>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69" name="Google Shape;269;p47"/>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70" name="Google Shape;270;p47"/>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71" name="Google Shape;271;p47"/>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72" name="Google Shape;272;p47"/>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73" name="Google Shape;273;p47"/>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4" name="Google Shape;274;p4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75" name="Shape 275"/>
        <p:cNvGrpSpPr/>
        <p:nvPr/>
      </p:nvGrpSpPr>
      <p:grpSpPr>
        <a:xfrm>
          <a:off x="0" y="0"/>
          <a:ext cx="0" cy="0"/>
          <a:chOff x="0" y="0"/>
          <a:chExt cx="0" cy="0"/>
        </a:xfrm>
      </p:grpSpPr>
      <p:sp>
        <p:nvSpPr>
          <p:cNvPr id="276" name="Google Shape;276;p48"/>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7" name="Google Shape;277;p48"/>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78" name="Google Shape;278;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79" name="Shape 279"/>
        <p:cNvGrpSpPr/>
        <p:nvPr/>
      </p:nvGrpSpPr>
      <p:grpSpPr>
        <a:xfrm>
          <a:off x="0" y="0"/>
          <a:ext cx="0" cy="0"/>
          <a:chOff x="0" y="0"/>
          <a:chExt cx="0" cy="0"/>
        </a:xfrm>
      </p:grpSpPr>
      <p:sp>
        <p:nvSpPr>
          <p:cNvPr id="280" name="Google Shape;280;p49"/>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2" name="Google Shape;282;p49"/>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83" name="Google Shape;283;p4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84" name="Shape 284"/>
        <p:cNvGrpSpPr/>
        <p:nvPr/>
      </p:nvGrpSpPr>
      <p:grpSpPr>
        <a:xfrm>
          <a:off x="0" y="0"/>
          <a:ext cx="0" cy="0"/>
          <a:chOff x="0" y="0"/>
          <a:chExt cx="0" cy="0"/>
        </a:xfrm>
      </p:grpSpPr>
      <p:sp>
        <p:nvSpPr>
          <p:cNvPr id="285" name="Google Shape;285;p50"/>
          <p:cNvSpPr/>
          <p:nvPr>
            <p:ph idx="2" type="pic"/>
          </p:nvPr>
        </p:nvSpPr>
        <p:spPr>
          <a:xfrm>
            <a:off x="0" y="0"/>
            <a:ext cx="9144000" cy="5143500"/>
          </a:xfrm>
          <a:prstGeom prst="rect">
            <a:avLst/>
          </a:prstGeom>
          <a:noFill/>
          <a:ln>
            <a:noFill/>
          </a:ln>
        </p:spPr>
      </p:sp>
      <p:sp>
        <p:nvSpPr>
          <p:cNvPr id="286" name="Google Shape;286;p50"/>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87" name="Google Shape;287;p50"/>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8" name="Google Shape;288;p50"/>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89" name="Google Shape;289;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90" name="Shape 290"/>
        <p:cNvGrpSpPr/>
        <p:nvPr/>
      </p:nvGrpSpPr>
      <p:grpSpPr>
        <a:xfrm>
          <a:off x="0" y="0"/>
          <a:ext cx="0" cy="0"/>
          <a:chOff x="0" y="0"/>
          <a:chExt cx="0" cy="0"/>
        </a:xfrm>
      </p:grpSpPr>
      <p:sp>
        <p:nvSpPr>
          <p:cNvPr id="291" name="Google Shape;291;p51"/>
          <p:cNvSpPr/>
          <p:nvPr>
            <p:ph idx="2" type="pic"/>
          </p:nvPr>
        </p:nvSpPr>
        <p:spPr>
          <a:xfrm>
            <a:off x="5485725" y="523025"/>
            <a:ext cx="3135300" cy="4097700"/>
          </a:xfrm>
          <a:prstGeom prst="roundRect">
            <a:avLst>
              <a:gd fmla="val 16667" name="adj"/>
            </a:avLst>
          </a:prstGeom>
          <a:noFill/>
          <a:ln>
            <a:noFill/>
          </a:ln>
        </p:spPr>
      </p:sp>
      <p:sp>
        <p:nvSpPr>
          <p:cNvPr id="292" name="Google Shape;292;p51"/>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93" name="Google Shape;293;p51"/>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94" name="Google Shape;294;p5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95" name="Shape 295"/>
        <p:cNvGrpSpPr/>
        <p:nvPr/>
      </p:nvGrpSpPr>
      <p:grpSpPr>
        <a:xfrm>
          <a:off x="0" y="0"/>
          <a:ext cx="0" cy="0"/>
          <a:chOff x="0" y="0"/>
          <a:chExt cx="0" cy="0"/>
        </a:xfrm>
      </p:grpSpPr>
      <p:sp>
        <p:nvSpPr>
          <p:cNvPr id="296" name="Google Shape;296;p52"/>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7" name="Google Shape;297;p52"/>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8" name="Google Shape;298;p52"/>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9" name="Google Shape;299;p52"/>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00" name="Google Shape;300;p52"/>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1" name="Google Shape;301;p52"/>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02" name="Google Shape;302;p52"/>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303" name="Google Shape;303;p52"/>
          <p:cNvSpPr/>
          <p:nvPr>
            <p:ph idx="7" type="pic"/>
          </p:nvPr>
        </p:nvSpPr>
        <p:spPr>
          <a:xfrm>
            <a:off x="7049625" y="523025"/>
            <a:ext cx="1305900" cy="1918500"/>
          </a:xfrm>
          <a:prstGeom prst="roundRect">
            <a:avLst>
              <a:gd fmla="val 16667" name="adj"/>
            </a:avLst>
          </a:prstGeom>
          <a:noFill/>
          <a:ln>
            <a:noFill/>
          </a:ln>
        </p:spPr>
      </p:sp>
      <p:sp>
        <p:nvSpPr>
          <p:cNvPr id="304" name="Google Shape;304;p52"/>
          <p:cNvSpPr/>
          <p:nvPr>
            <p:ph idx="8" type="pic"/>
          </p:nvPr>
        </p:nvSpPr>
        <p:spPr>
          <a:xfrm>
            <a:off x="784775" y="522100"/>
            <a:ext cx="1305900" cy="1918500"/>
          </a:xfrm>
          <a:prstGeom prst="roundRect">
            <a:avLst>
              <a:gd fmla="val 16667" name="adj"/>
            </a:avLst>
          </a:prstGeom>
          <a:noFill/>
          <a:ln>
            <a:noFill/>
          </a:ln>
        </p:spPr>
      </p:sp>
      <p:sp>
        <p:nvSpPr>
          <p:cNvPr id="305" name="Google Shape;305;p52"/>
          <p:cNvSpPr/>
          <p:nvPr>
            <p:ph idx="9" type="pic"/>
          </p:nvPr>
        </p:nvSpPr>
        <p:spPr>
          <a:xfrm>
            <a:off x="2343950" y="523500"/>
            <a:ext cx="1305900" cy="1918500"/>
          </a:xfrm>
          <a:prstGeom prst="roundRect">
            <a:avLst>
              <a:gd fmla="val 16667" name="adj"/>
            </a:avLst>
          </a:prstGeom>
          <a:noFill/>
          <a:ln>
            <a:noFill/>
          </a:ln>
        </p:spPr>
      </p:sp>
      <p:sp>
        <p:nvSpPr>
          <p:cNvPr id="306" name="Google Shape;306;p52"/>
          <p:cNvSpPr/>
          <p:nvPr>
            <p:ph idx="13" type="pic"/>
          </p:nvPr>
        </p:nvSpPr>
        <p:spPr>
          <a:xfrm>
            <a:off x="3915213" y="523500"/>
            <a:ext cx="1305900" cy="1918500"/>
          </a:xfrm>
          <a:prstGeom prst="roundRect">
            <a:avLst>
              <a:gd fmla="val 16667" name="adj"/>
            </a:avLst>
          </a:prstGeom>
          <a:noFill/>
          <a:ln>
            <a:noFill/>
          </a:ln>
        </p:spPr>
      </p:sp>
      <p:sp>
        <p:nvSpPr>
          <p:cNvPr id="307" name="Google Shape;307;p52"/>
          <p:cNvSpPr/>
          <p:nvPr>
            <p:ph idx="14" type="pic"/>
          </p:nvPr>
        </p:nvSpPr>
        <p:spPr>
          <a:xfrm>
            <a:off x="5490975" y="523500"/>
            <a:ext cx="1305900" cy="1918500"/>
          </a:xfrm>
          <a:prstGeom prst="roundRect">
            <a:avLst>
              <a:gd fmla="val 16667" name="adj"/>
            </a:avLst>
          </a:prstGeom>
          <a:noFill/>
          <a:ln>
            <a:noFill/>
          </a:ln>
        </p:spPr>
      </p:sp>
      <p:sp>
        <p:nvSpPr>
          <p:cNvPr id="308" name="Google Shape;308;p52"/>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9" name="Google Shape;309;p52"/>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310" name="Google Shape;310;p52"/>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1" name="Google Shape;311;p52"/>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2" name="Google Shape;312;p52"/>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3" name="Google Shape;313;p52"/>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4" name="Google Shape;314;p5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315" name="Shape 315"/>
        <p:cNvGrpSpPr/>
        <p:nvPr/>
      </p:nvGrpSpPr>
      <p:grpSpPr>
        <a:xfrm>
          <a:off x="0" y="0"/>
          <a:ext cx="0" cy="0"/>
          <a:chOff x="0" y="0"/>
          <a:chExt cx="0" cy="0"/>
        </a:xfrm>
      </p:grpSpPr>
      <p:sp>
        <p:nvSpPr>
          <p:cNvPr id="316" name="Google Shape;316;p53"/>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7" name="Google Shape;317;p53"/>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318" name="Google Shape;318;p5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319" name="Shape 319"/>
        <p:cNvGrpSpPr/>
        <p:nvPr/>
      </p:nvGrpSpPr>
      <p:grpSpPr>
        <a:xfrm>
          <a:off x="0" y="0"/>
          <a:ext cx="0" cy="0"/>
          <a:chOff x="0" y="0"/>
          <a:chExt cx="0" cy="0"/>
        </a:xfrm>
      </p:grpSpPr>
      <p:sp>
        <p:nvSpPr>
          <p:cNvPr id="320" name="Google Shape;320;p54"/>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321" name="Google Shape;321;p54"/>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322" name="Google Shape;322;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323" name="Shape 323"/>
        <p:cNvGrpSpPr/>
        <p:nvPr/>
      </p:nvGrpSpPr>
      <p:grpSpPr>
        <a:xfrm>
          <a:off x="0" y="0"/>
          <a:ext cx="0" cy="0"/>
          <a:chOff x="0" y="0"/>
          <a:chExt cx="0" cy="0"/>
        </a:xfrm>
      </p:grpSpPr>
      <p:sp>
        <p:nvSpPr>
          <p:cNvPr id="324" name="Google Shape;324;p55"/>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325" name="Google Shape;325;p55"/>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6" name="Google Shape;326;p55"/>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7" name="Google Shape;327;p55"/>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8" name="Google Shape;328;p55"/>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9" name="Google Shape;329;p55"/>
          <p:cNvSpPr/>
          <p:nvPr>
            <p:ph idx="5" type="pic"/>
          </p:nvPr>
        </p:nvSpPr>
        <p:spPr>
          <a:xfrm>
            <a:off x="7049625" y="1588125"/>
            <a:ext cx="1305900" cy="1918500"/>
          </a:xfrm>
          <a:prstGeom prst="roundRect">
            <a:avLst>
              <a:gd fmla="val 16667" name="adj"/>
            </a:avLst>
          </a:prstGeom>
          <a:noFill/>
          <a:ln>
            <a:noFill/>
          </a:ln>
        </p:spPr>
      </p:sp>
      <p:sp>
        <p:nvSpPr>
          <p:cNvPr id="330" name="Google Shape;330;p55"/>
          <p:cNvSpPr/>
          <p:nvPr>
            <p:ph idx="6" type="pic"/>
          </p:nvPr>
        </p:nvSpPr>
        <p:spPr>
          <a:xfrm>
            <a:off x="3915213" y="1588600"/>
            <a:ext cx="1305900" cy="1918500"/>
          </a:xfrm>
          <a:prstGeom prst="roundRect">
            <a:avLst>
              <a:gd fmla="val 16667" name="adj"/>
            </a:avLst>
          </a:prstGeom>
          <a:noFill/>
          <a:ln>
            <a:noFill/>
          </a:ln>
        </p:spPr>
      </p:sp>
      <p:sp>
        <p:nvSpPr>
          <p:cNvPr id="331" name="Google Shape;331;p55"/>
          <p:cNvSpPr/>
          <p:nvPr>
            <p:ph idx="7" type="pic"/>
          </p:nvPr>
        </p:nvSpPr>
        <p:spPr>
          <a:xfrm>
            <a:off x="5490975" y="1588600"/>
            <a:ext cx="1305900" cy="1918500"/>
          </a:xfrm>
          <a:prstGeom prst="roundRect">
            <a:avLst>
              <a:gd fmla="val 16667" name="adj"/>
            </a:avLst>
          </a:prstGeom>
          <a:noFill/>
          <a:ln>
            <a:noFill/>
          </a:ln>
        </p:spPr>
      </p:sp>
      <p:sp>
        <p:nvSpPr>
          <p:cNvPr id="332" name="Google Shape;332;p55"/>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3" name="Google Shape;333;p55"/>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4" name="Google Shape;334;p55"/>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5" name="Google Shape;335;p55"/>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336" name="Google Shape;336;p55"/>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37" name="Google Shape;337;p55"/>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38" name="Google Shape;338;p5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339" name="Shape 339"/>
        <p:cNvGrpSpPr/>
        <p:nvPr/>
      </p:nvGrpSpPr>
      <p:grpSpPr>
        <a:xfrm>
          <a:off x="0" y="0"/>
          <a:ext cx="0" cy="0"/>
          <a:chOff x="0" y="0"/>
          <a:chExt cx="0" cy="0"/>
        </a:xfrm>
      </p:grpSpPr>
      <p:sp>
        <p:nvSpPr>
          <p:cNvPr id="340" name="Google Shape;340;p56"/>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41" name="Google Shape;341;p56"/>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42" name="Google Shape;342;p56"/>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343" name="Google Shape;343;p56"/>
          <p:cNvSpPr/>
          <p:nvPr>
            <p:ph idx="3" type="pic"/>
          </p:nvPr>
        </p:nvSpPr>
        <p:spPr>
          <a:xfrm>
            <a:off x="7049625" y="523025"/>
            <a:ext cx="1305900" cy="1918500"/>
          </a:xfrm>
          <a:prstGeom prst="roundRect">
            <a:avLst>
              <a:gd fmla="val 16667" name="adj"/>
            </a:avLst>
          </a:prstGeom>
          <a:noFill/>
          <a:ln>
            <a:noFill/>
          </a:ln>
        </p:spPr>
      </p:sp>
      <p:sp>
        <p:nvSpPr>
          <p:cNvPr id="344" name="Google Shape;344;p56"/>
          <p:cNvSpPr/>
          <p:nvPr>
            <p:ph idx="4" type="pic"/>
          </p:nvPr>
        </p:nvSpPr>
        <p:spPr>
          <a:xfrm>
            <a:off x="784775" y="522100"/>
            <a:ext cx="1305900" cy="1918500"/>
          </a:xfrm>
          <a:prstGeom prst="roundRect">
            <a:avLst>
              <a:gd fmla="val 16667" name="adj"/>
            </a:avLst>
          </a:prstGeom>
          <a:noFill/>
          <a:ln>
            <a:noFill/>
          </a:ln>
        </p:spPr>
      </p:sp>
      <p:sp>
        <p:nvSpPr>
          <p:cNvPr id="345" name="Google Shape;345;p56"/>
          <p:cNvSpPr/>
          <p:nvPr>
            <p:ph idx="5" type="pic"/>
          </p:nvPr>
        </p:nvSpPr>
        <p:spPr>
          <a:xfrm>
            <a:off x="2343950" y="523500"/>
            <a:ext cx="1305900" cy="1918500"/>
          </a:xfrm>
          <a:prstGeom prst="roundRect">
            <a:avLst>
              <a:gd fmla="val 16667" name="adj"/>
            </a:avLst>
          </a:prstGeom>
          <a:noFill/>
          <a:ln>
            <a:noFill/>
          </a:ln>
        </p:spPr>
      </p:sp>
      <p:sp>
        <p:nvSpPr>
          <p:cNvPr id="346" name="Google Shape;346;p56"/>
          <p:cNvSpPr/>
          <p:nvPr>
            <p:ph idx="6" type="pic"/>
          </p:nvPr>
        </p:nvSpPr>
        <p:spPr>
          <a:xfrm>
            <a:off x="3915213" y="523500"/>
            <a:ext cx="1305900" cy="1918500"/>
          </a:xfrm>
          <a:prstGeom prst="roundRect">
            <a:avLst>
              <a:gd fmla="val 16667" name="adj"/>
            </a:avLst>
          </a:prstGeom>
          <a:noFill/>
          <a:ln>
            <a:noFill/>
          </a:ln>
        </p:spPr>
      </p:sp>
      <p:sp>
        <p:nvSpPr>
          <p:cNvPr id="347" name="Google Shape;347;p56"/>
          <p:cNvSpPr/>
          <p:nvPr>
            <p:ph idx="7" type="pic"/>
          </p:nvPr>
        </p:nvSpPr>
        <p:spPr>
          <a:xfrm>
            <a:off x="5490975" y="523500"/>
            <a:ext cx="1305900" cy="1918500"/>
          </a:xfrm>
          <a:prstGeom prst="roundRect">
            <a:avLst>
              <a:gd fmla="val 16667" name="adj"/>
            </a:avLst>
          </a:prstGeom>
          <a:noFill/>
          <a:ln>
            <a:noFill/>
          </a:ln>
        </p:spPr>
      </p:sp>
      <p:sp>
        <p:nvSpPr>
          <p:cNvPr id="348" name="Google Shape;348;p56"/>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49" name="Google Shape;349;p56"/>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50" name="Google Shape;350;p56"/>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1" name="Google Shape;351;p56"/>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2" name="Google Shape;352;p56"/>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3" name="Google Shape;353;p56"/>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4" name="Google Shape;354;p56"/>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5" name="Google Shape;355;p56"/>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6" name="Google Shape;356;p56"/>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7" name="Google Shape;357;p56"/>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8" name="Google Shape;358;p5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59" name="Shape 359"/>
        <p:cNvGrpSpPr/>
        <p:nvPr/>
      </p:nvGrpSpPr>
      <p:grpSpPr>
        <a:xfrm>
          <a:off x="0" y="0"/>
          <a:ext cx="0" cy="0"/>
          <a:chOff x="0" y="0"/>
          <a:chExt cx="0" cy="0"/>
        </a:xfrm>
      </p:grpSpPr>
      <p:sp>
        <p:nvSpPr>
          <p:cNvPr id="360" name="Google Shape;360;p57"/>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1" name="Google Shape;361;p57"/>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62" name="Google Shape;362;p5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63" name="Shape 363"/>
        <p:cNvGrpSpPr/>
        <p:nvPr/>
      </p:nvGrpSpPr>
      <p:grpSpPr>
        <a:xfrm>
          <a:off x="0" y="0"/>
          <a:ext cx="0" cy="0"/>
          <a:chOff x="0" y="0"/>
          <a:chExt cx="0" cy="0"/>
        </a:xfrm>
      </p:grpSpPr>
      <p:sp>
        <p:nvSpPr>
          <p:cNvPr id="364" name="Google Shape;364;p58"/>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5" name="Google Shape;365;p58"/>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66" name="Google Shape;366;p5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52" name="Google Shape;52;p13"/>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4.jp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19.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9"/>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a:t>LIFE EXPECTANCY</a:t>
            </a:r>
            <a:endParaRPr/>
          </a:p>
          <a:p>
            <a:pPr indent="0" lvl="0" marL="0" rtl="0" algn="ctr">
              <a:spcBef>
                <a:spcPts val="0"/>
              </a:spcBef>
              <a:spcAft>
                <a:spcPts val="0"/>
              </a:spcAft>
              <a:buClr>
                <a:schemeClr val="lt1"/>
              </a:buClr>
              <a:buSzPts val="1100"/>
              <a:buNone/>
            </a:pPr>
            <a:r>
              <a:rPr lang="en"/>
              <a:t>DATA ANALYSIS</a:t>
            </a:r>
            <a:endParaRPr/>
          </a:p>
          <a:p>
            <a:pPr indent="0" lvl="0" marL="0" rtl="0" algn="ctr">
              <a:spcBef>
                <a:spcPts val="0"/>
              </a:spcBef>
              <a:spcAft>
                <a:spcPts val="0"/>
              </a:spcAft>
              <a:buClr>
                <a:schemeClr val="lt1"/>
              </a:buClr>
              <a:buSzPts val="1100"/>
              <a:buNone/>
            </a:pPr>
            <a:r>
              <a:t/>
            </a:r>
            <a:endParaRPr/>
          </a:p>
          <a:p>
            <a:pPr indent="0" lvl="0" marL="0" rtl="0" algn="ctr">
              <a:spcBef>
                <a:spcPts val="0"/>
              </a:spcBef>
              <a:spcAft>
                <a:spcPts val="0"/>
              </a:spcAft>
              <a:buClr>
                <a:schemeClr val="lt1"/>
              </a:buClr>
              <a:buSzPts val="1100"/>
              <a:buFont typeface="Arial"/>
              <a:buNone/>
            </a:pPr>
            <a:r>
              <a:t/>
            </a:r>
            <a:endParaRPr/>
          </a:p>
        </p:txBody>
      </p:sp>
      <p:sp>
        <p:nvSpPr>
          <p:cNvPr id="372" name="Google Shape;372;p59"/>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a:t>Gelila Yimtatu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6" name="Shape 376"/>
        <p:cNvGrpSpPr/>
        <p:nvPr/>
      </p:nvGrpSpPr>
      <p:grpSpPr>
        <a:xfrm>
          <a:off x="0" y="0"/>
          <a:ext cx="0" cy="0"/>
          <a:chOff x="0" y="0"/>
          <a:chExt cx="0" cy="0"/>
        </a:xfrm>
      </p:grpSpPr>
      <p:sp>
        <p:nvSpPr>
          <p:cNvPr id="377" name="Google Shape;377;p60"/>
          <p:cNvSpPr txBox="1"/>
          <p:nvPr>
            <p:ph idx="1" type="subTitle"/>
          </p:nvPr>
        </p:nvSpPr>
        <p:spPr>
          <a:xfrm>
            <a:off x="791150" y="522625"/>
            <a:ext cx="8159400" cy="11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Introduction and Our Dataset</a:t>
            </a:r>
            <a:endParaRPr>
              <a:solidFill>
                <a:schemeClr val="lt1"/>
              </a:solidFill>
            </a:endParaRPr>
          </a:p>
        </p:txBody>
      </p:sp>
      <p:sp>
        <p:nvSpPr>
          <p:cNvPr id="378" name="Google Shape;378;p60"/>
          <p:cNvSpPr txBox="1"/>
          <p:nvPr>
            <p:ph idx="2" type="body"/>
          </p:nvPr>
        </p:nvSpPr>
        <p:spPr>
          <a:xfrm>
            <a:off x="791150" y="1554625"/>
            <a:ext cx="7805700" cy="14637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Char char="●"/>
            </a:pPr>
            <a:r>
              <a:rPr b="1" lang="en" sz="2200">
                <a:solidFill>
                  <a:schemeClr val="dk1"/>
                </a:solidFill>
                <a:latin typeface="Barlow"/>
                <a:ea typeface="Barlow"/>
                <a:cs typeface="Barlow"/>
                <a:sym typeface="Barlow"/>
              </a:rPr>
              <a:t>Unit of Analysis:</a:t>
            </a:r>
            <a:r>
              <a:rPr lang="en" sz="2200">
                <a:solidFill>
                  <a:schemeClr val="dk1"/>
                </a:solidFill>
              </a:rPr>
              <a:t> 179 countries from 2000-2015, </a:t>
            </a:r>
            <a:r>
              <a:rPr lang="en" sz="2200">
                <a:solidFill>
                  <a:schemeClr val="dk1"/>
                </a:solidFill>
              </a:rPr>
              <a:t>(2,864 rows)</a:t>
            </a:r>
            <a:endParaRPr sz="2200">
              <a:solidFill>
                <a:schemeClr val="dk1"/>
              </a:solidFill>
            </a:endParaRPr>
          </a:p>
          <a:p>
            <a:pPr indent="-368300" lvl="0" marL="457200" rtl="0" algn="l">
              <a:spcBef>
                <a:spcPts val="0"/>
              </a:spcBef>
              <a:spcAft>
                <a:spcPts val="0"/>
              </a:spcAft>
              <a:buClr>
                <a:schemeClr val="dk1"/>
              </a:buClr>
              <a:buSzPts val="2200"/>
              <a:buChar char="●"/>
            </a:pPr>
            <a:r>
              <a:rPr b="1" lang="en" sz="2200">
                <a:solidFill>
                  <a:schemeClr val="dk1"/>
                </a:solidFill>
                <a:latin typeface="Barlow"/>
                <a:ea typeface="Barlow"/>
                <a:cs typeface="Barlow"/>
                <a:sym typeface="Barlow"/>
              </a:rPr>
              <a:t>21 Variables on:</a:t>
            </a:r>
            <a:r>
              <a:rPr lang="en" sz="2200">
                <a:solidFill>
                  <a:schemeClr val="dk1"/>
                </a:solidFill>
              </a:rPr>
              <a:t> life expectancy, health, immunization, and economic and demographic information </a:t>
            </a:r>
            <a:endParaRPr sz="2200">
              <a:solidFill>
                <a:schemeClr val="dk1"/>
              </a:solidFill>
            </a:endParaRPr>
          </a:p>
          <a:p>
            <a:pPr indent="-368300" lvl="0" marL="457200" rtl="0" algn="l">
              <a:spcBef>
                <a:spcPts val="0"/>
              </a:spcBef>
              <a:spcAft>
                <a:spcPts val="0"/>
              </a:spcAft>
              <a:buClr>
                <a:schemeClr val="dk1"/>
              </a:buClr>
              <a:buSzPts val="2200"/>
              <a:buChar char="●"/>
            </a:pPr>
            <a:r>
              <a:rPr b="1" lang="en" sz="2200">
                <a:solidFill>
                  <a:schemeClr val="dk1"/>
                </a:solidFill>
                <a:latin typeface="Barlow"/>
                <a:ea typeface="Barlow"/>
                <a:cs typeface="Barlow"/>
                <a:sym typeface="Barlow"/>
              </a:rPr>
              <a:t>Primary question:</a:t>
            </a:r>
            <a:r>
              <a:rPr lang="en" sz="2200">
                <a:solidFill>
                  <a:schemeClr val="dk1"/>
                </a:solidFill>
              </a:rPr>
              <a:t> What are the most decisive predictive factors influencing global life expectancy?</a:t>
            </a:r>
            <a:endParaRPr sz="2200">
              <a:solidFill>
                <a:schemeClr val="dk1"/>
              </a:solidFill>
            </a:endParaRPr>
          </a:p>
        </p:txBody>
      </p:sp>
      <p:sp>
        <p:nvSpPr>
          <p:cNvPr id="379" name="Google Shape;379;p6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80" name="Google Shape;380;p60"/>
          <p:cNvPicPr preferRelativeResize="0"/>
          <p:nvPr/>
        </p:nvPicPr>
        <p:blipFill>
          <a:blip r:embed="rId3">
            <a:alphaModFix/>
          </a:blip>
          <a:stretch>
            <a:fillRect/>
          </a:stretch>
        </p:blipFill>
        <p:spPr>
          <a:xfrm>
            <a:off x="598812" y="3415100"/>
            <a:ext cx="7946375" cy="1644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4" name="Shape 384"/>
        <p:cNvGrpSpPr/>
        <p:nvPr/>
      </p:nvGrpSpPr>
      <p:grpSpPr>
        <a:xfrm>
          <a:off x="0" y="0"/>
          <a:ext cx="0" cy="0"/>
          <a:chOff x="0" y="0"/>
          <a:chExt cx="0" cy="0"/>
        </a:xfrm>
      </p:grpSpPr>
      <p:sp>
        <p:nvSpPr>
          <p:cNvPr id="385" name="Google Shape;385;p61"/>
          <p:cNvSpPr txBox="1"/>
          <p:nvPr>
            <p:ph idx="2" type="body"/>
          </p:nvPr>
        </p:nvSpPr>
        <p:spPr>
          <a:xfrm>
            <a:off x="219650" y="1819675"/>
            <a:ext cx="4874700" cy="3139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Removing Unnecessary Variables</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Country, Region, Year,</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Economy_status_Developing/Economy_status_Developed</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86" name="Google Shape;386;p6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61"/>
          <p:cNvSpPr txBox="1"/>
          <p:nvPr>
            <p:ph idx="1" type="subTitle"/>
          </p:nvPr>
        </p:nvSpPr>
        <p:spPr>
          <a:xfrm>
            <a:off x="492300" y="429025"/>
            <a:ext cx="8159400" cy="728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lt1"/>
                </a:solidFill>
              </a:rPr>
              <a:t>Preliminary Data Exploration</a:t>
            </a:r>
            <a:endParaRPr>
              <a:solidFill>
                <a:schemeClr val="lt1"/>
              </a:solidFill>
            </a:endParaRPr>
          </a:p>
        </p:txBody>
      </p:sp>
      <p:pic>
        <p:nvPicPr>
          <p:cNvPr id="388" name="Google Shape;388;p61"/>
          <p:cNvPicPr preferRelativeResize="0"/>
          <p:nvPr/>
        </p:nvPicPr>
        <p:blipFill>
          <a:blip r:embed="rId3">
            <a:alphaModFix/>
          </a:blip>
          <a:stretch>
            <a:fillRect/>
          </a:stretch>
        </p:blipFill>
        <p:spPr>
          <a:xfrm>
            <a:off x="5144549" y="1723930"/>
            <a:ext cx="3910825" cy="3330675"/>
          </a:xfrm>
          <a:prstGeom prst="rect">
            <a:avLst/>
          </a:prstGeom>
          <a:noFill/>
          <a:ln>
            <a:noFill/>
          </a:ln>
        </p:spPr>
      </p:pic>
      <p:pic>
        <p:nvPicPr>
          <p:cNvPr id="389" name="Google Shape;389;p61"/>
          <p:cNvPicPr preferRelativeResize="0"/>
          <p:nvPr/>
        </p:nvPicPr>
        <p:blipFill>
          <a:blip r:embed="rId4">
            <a:alphaModFix/>
          </a:blip>
          <a:stretch>
            <a:fillRect/>
          </a:stretch>
        </p:blipFill>
        <p:spPr>
          <a:xfrm>
            <a:off x="1576378" y="2993163"/>
            <a:ext cx="2694773" cy="151027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2"/>
          <p:cNvSpPr txBox="1"/>
          <p:nvPr>
            <p:ph type="title"/>
          </p:nvPr>
        </p:nvSpPr>
        <p:spPr>
          <a:xfrm>
            <a:off x="1278550" y="88400"/>
            <a:ext cx="3549900" cy="966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VIF</a:t>
            </a:r>
            <a:endParaRPr/>
          </a:p>
        </p:txBody>
      </p:sp>
      <p:pic>
        <p:nvPicPr>
          <p:cNvPr id="395" name="Google Shape;395;p62"/>
          <p:cNvPicPr preferRelativeResize="0"/>
          <p:nvPr/>
        </p:nvPicPr>
        <p:blipFill>
          <a:blip r:embed="rId3">
            <a:alphaModFix/>
          </a:blip>
          <a:stretch>
            <a:fillRect/>
          </a:stretch>
        </p:blipFill>
        <p:spPr>
          <a:xfrm>
            <a:off x="312775" y="1054700"/>
            <a:ext cx="4587200" cy="1517050"/>
          </a:xfrm>
          <a:prstGeom prst="rect">
            <a:avLst/>
          </a:prstGeom>
          <a:noFill/>
          <a:ln>
            <a:noFill/>
          </a:ln>
        </p:spPr>
      </p:pic>
      <p:sp>
        <p:nvSpPr>
          <p:cNvPr id="396" name="Google Shape;396;p62"/>
          <p:cNvSpPr txBox="1"/>
          <p:nvPr/>
        </p:nvSpPr>
        <p:spPr>
          <a:xfrm>
            <a:off x="312775" y="2666750"/>
            <a:ext cx="4476000" cy="7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Barlow Light"/>
                <a:ea typeface="Barlow Light"/>
                <a:cs typeface="Barlow Light"/>
                <a:sym typeface="Barlow Light"/>
              </a:rPr>
              <a:t>The VIF test suggests there is multicollinearity with </a:t>
            </a:r>
            <a:r>
              <a:rPr b="1" lang="en" sz="1200">
                <a:solidFill>
                  <a:schemeClr val="dk1"/>
                </a:solidFill>
                <a:latin typeface="Barlow"/>
                <a:ea typeface="Barlow"/>
                <a:cs typeface="Barlow"/>
                <a:sym typeface="Barlow"/>
              </a:rPr>
              <a:t>infant</a:t>
            </a:r>
            <a:r>
              <a:rPr b="1" lang="en" sz="1200">
                <a:solidFill>
                  <a:schemeClr val="dk1"/>
                </a:solidFill>
                <a:latin typeface="Barlow"/>
                <a:ea typeface="Barlow"/>
                <a:cs typeface="Barlow"/>
                <a:sym typeface="Barlow"/>
              </a:rPr>
              <a:t> deaths, under 5 deaths, </a:t>
            </a:r>
            <a:r>
              <a:rPr b="1" lang="en" sz="1200">
                <a:solidFill>
                  <a:schemeClr val="dk1"/>
                </a:solidFill>
                <a:latin typeface="Barlow"/>
                <a:ea typeface="Barlow"/>
                <a:cs typeface="Barlow"/>
                <a:sym typeface="Barlow"/>
              </a:rPr>
              <a:t>diphtheria</a:t>
            </a:r>
            <a:r>
              <a:rPr b="1" lang="en" sz="1200">
                <a:solidFill>
                  <a:schemeClr val="dk1"/>
                </a:solidFill>
                <a:latin typeface="Barlow"/>
                <a:ea typeface="Barlow"/>
                <a:cs typeface="Barlow"/>
                <a:sym typeface="Barlow"/>
              </a:rPr>
              <a:t>, and polio (&gt;10)</a:t>
            </a:r>
            <a:r>
              <a:rPr lang="en" sz="1200">
                <a:solidFill>
                  <a:schemeClr val="dk1"/>
                </a:solidFill>
                <a:latin typeface="Barlow Light"/>
                <a:ea typeface="Barlow Light"/>
                <a:cs typeface="Barlow Light"/>
                <a:sym typeface="Barlow Light"/>
              </a:rPr>
              <a:t>, and after cross-checking </a:t>
            </a:r>
            <a:r>
              <a:rPr lang="en" sz="1200">
                <a:solidFill>
                  <a:schemeClr val="dk1"/>
                </a:solidFill>
                <a:latin typeface="Barlow Light"/>
                <a:ea typeface="Barlow Light"/>
                <a:cs typeface="Barlow Light"/>
                <a:sym typeface="Barlow Light"/>
              </a:rPr>
              <a:t>with</a:t>
            </a:r>
            <a:r>
              <a:rPr lang="en" sz="1200">
                <a:solidFill>
                  <a:schemeClr val="dk1"/>
                </a:solidFill>
                <a:latin typeface="Barlow Light"/>
                <a:ea typeface="Barlow Light"/>
                <a:cs typeface="Barlow Light"/>
                <a:sym typeface="Barlow Light"/>
              </a:rPr>
              <a:t> our correlation matrix we removed these variables</a:t>
            </a:r>
            <a:r>
              <a:rPr lang="en" sz="1200">
                <a:solidFill>
                  <a:schemeClr val="dk1"/>
                </a:solidFill>
                <a:latin typeface="Barlow Light"/>
                <a:ea typeface="Barlow Light"/>
                <a:cs typeface="Barlow Light"/>
                <a:sym typeface="Barlow Light"/>
              </a:rPr>
              <a:t>.</a:t>
            </a:r>
            <a:endParaRPr sz="12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12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1200">
              <a:solidFill>
                <a:schemeClr val="dk1"/>
              </a:solidFill>
              <a:latin typeface="Barlow Light"/>
              <a:ea typeface="Barlow Light"/>
              <a:cs typeface="Barlow Light"/>
              <a:sym typeface="Barlow Light"/>
            </a:endParaRPr>
          </a:p>
        </p:txBody>
      </p:sp>
      <p:sp>
        <p:nvSpPr>
          <p:cNvPr id="397" name="Google Shape;397;p62"/>
          <p:cNvSpPr txBox="1"/>
          <p:nvPr/>
        </p:nvSpPr>
        <p:spPr>
          <a:xfrm>
            <a:off x="5770138" y="277550"/>
            <a:ext cx="2452200" cy="5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Barlow Light"/>
                <a:ea typeface="Barlow Light"/>
                <a:cs typeface="Barlow Light"/>
                <a:sym typeface="Barlow Light"/>
              </a:rPr>
              <a:t>Cross check with </a:t>
            </a:r>
            <a:r>
              <a:rPr b="1" lang="en" sz="1700">
                <a:solidFill>
                  <a:schemeClr val="dk1"/>
                </a:solidFill>
                <a:latin typeface="Barlow"/>
                <a:ea typeface="Barlow"/>
                <a:cs typeface="Barlow"/>
                <a:sym typeface="Barlow"/>
              </a:rPr>
              <a:t>Correlation matrix</a:t>
            </a:r>
            <a:endParaRPr b="1" sz="1700">
              <a:solidFill>
                <a:schemeClr val="dk1"/>
              </a:solidFill>
              <a:latin typeface="Barlow"/>
              <a:ea typeface="Barlow"/>
              <a:cs typeface="Barlow"/>
              <a:sym typeface="Barlow"/>
            </a:endParaRPr>
          </a:p>
        </p:txBody>
      </p:sp>
      <p:pic>
        <p:nvPicPr>
          <p:cNvPr id="398" name="Google Shape;398;p62"/>
          <p:cNvPicPr preferRelativeResize="0"/>
          <p:nvPr/>
        </p:nvPicPr>
        <p:blipFill>
          <a:blip r:embed="rId4">
            <a:alphaModFix/>
          </a:blip>
          <a:stretch>
            <a:fillRect/>
          </a:stretch>
        </p:blipFill>
        <p:spPr>
          <a:xfrm>
            <a:off x="5253150" y="1029475"/>
            <a:ext cx="3738451" cy="3563425"/>
          </a:xfrm>
          <a:prstGeom prst="rect">
            <a:avLst/>
          </a:prstGeom>
          <a:noFill/>
          <a:ln>
            <a:noFill/>
          </a:ln>
        </p:spPr>
      </p:pic>
      <p:sp>
        <p:nvSpPr>
          <p:cNvPr id="399" name="Google Shape;399;p62"/>
          <p:cNvSpPr txBox="1"/>
          <p:nvPr/>
        </p:nvSpPr>
        <p:spPr>
          <a:xfrm>
            <a:off x="312775" y="4456850"/>
            <a:ext cx="4156800" cy="7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solidFill>
                  <a:schemeClr val="dk1"/>
                </a:solidFill>
                <a:latin typeface="Barlow Light"/>
                <a:ea typeface="Barlow Light"/>
                <a:cs typeface="Barlow Light"/>
                <a:sym typeface="Barlow Light"/>
              </a:rPr>
              <a:t>Much better (VIF&lt;10)</a:t>
            </a:r>
            <a:r>
              <a:rPr lang="en" sz="1200">
                <a:solidFill>
                  <a:schemeClr val="dk1"/>
                </a:solidFill>
                <a:latin typeface="Barlow Light"/>
                <a:ea typeface="Barlow Light"/>
                <a:cs typeface="Barlow Light"/>
                <a:sym typeface="Barlow Light"/>
              </a:rPr>
              <a:t>!</a:t>
            </a:r>
            <a:endParaRPr/>
          </a:p>
        </p:txBody>
      </p:sp>
      <p:pic>
        <p:nvPicPr>
          <p:cNvPr id="400" name="Google Shape;400;p62"/>
          <p:cNvPicPr preferRelativeResize="0"/>
          <p:nvPr/>
        </p:nvPicPr>
        <p:blipFill>
          <a:blip r:embed="rId5">
            <a:alphaModFix/>
          </a:blip>
          <a:stretch>
            <a:fillRect/>
          </a:stretch>
        </p:blipFill>
        <p:spPr>
          <a:xfrm>
            <a:off x="88700" y="3715938"/>
            <a:ext cx="5103601" cy="740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3"/>
          <p:cNvSpPr txBox="1"/>
          <p:nvPr>
            <p:ph idx="4294967295" type="body"/>
          </p:nvPr>
        </p:nvSpPr>
        <p:spPr>
          <a:xfrm>
            <a:off x="464225" y="1248825"/>
            <a:ext cx="7121700" cy="37524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Clr>
                <a:schemeClr val="dk1"/>
              </a:buClr>
              <a:buSzPts val="2700"/>
              <a:buChar char="●"/>
            </a:pPr>
            <a:r>
              <a:rPr b="1" lang="en" sz="2700">
                <a:solidFill>
                  <a:schemeClr val="dk1"/>
                </a:solidFill>
                <a:latin typeface="Barlow"/>
                <a:ea typeface="Barlow"/>
                <a:cs typeface="Barlow"/>
                <a:sym typeface="Barlow"/>
              </a:rPr>
              <a:t>Dependent variable</a:t>
            </a:r>
            <a:r>
              <a:rPr lang="en" sz="2700">
                <a:solidFill>
                  <a:schemeClr val="dk1"/>
                </a:solidFill>
              </a:rPr>
              <a:t>: Life_expectancy</a:t>
            </a:r>
            <a:endParaRPr sz="2700">
              <a:solidFill>
                <a:schemeClr val="dk1"/>
              </a:solidFill>
            </a:endParaRPr>
          </a:p>
          <a:p>
            <a:pPr indent="-400050" lvl="0" marL="457200" rtl="0" algn="l">
              <a:spcBef>
                <a:spcPts val="0"/>
              </a:spcBef>
              <a:spcAft>
                <a:spcPts val="0"/>
              </a:spcAft>
              <a:buClr>
                <a:schemeClr val="dk1"/>
              </a:buClr>
              <a:buSzPts val="2700"/>
              <a:buChar char="●"/>
            </a:pPr>
            <a:r>
              <a:rPr b="1" lang="en" sz="2700">
                <a:solidFill>
                  <a:schemeClr val="dk1"/>
                </a:solidFill>
                <a:latin typeface="Barlow"/>
                <a:ea typeface="Barlow"/>
                <a:cs typeface="Barlow"/>
                <a:sym typeface="Barlow"/>
              </a:rPr>
              <a:t>Independent variables (10)</a:t>
            </a:r>
            <a:r>
              <a:rPr lang="en" sz="2700">
                <a:solidFill>
                  <a:schemeClr val="dk1"/>
                </a:solidFill>
              </a:rPr>
              <a:t>: Alcohol_consumption, Hepatitis_B, Measles, BMI, Incidents_HIV, GDP_per_capita, Population_mln, Thinness_ten_nineteen_years, Thinness_five_nine_years, Schooling</a:t>
            </a:r>
            <a:endParaRPr sz="3400">
              <a:solidFill>
                <a:schemeClr val="dk1"/>
              </a:solidFill>
            </a:endParaRPr>
          </a:p>
        </p:txBody>
      </p:sp>
      <p:sp>
        <p:nvSpPr>
          <p:cNvPr id="406" name="Google Shape;406;p63"/>
          <p:cNvSpPr txBox="1"/>
          <p:nvPr>
            <p:ph type="title"/>
          </p:nvPr>
        </p:nvSpPr>
        <p:spPr>
          <a:xfrm>
            <a:off x="371400" y="282525"/>
            <a:ext cx="5343600" cy="966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Variables after VIF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4"/>
          <p:cNvSpPr txBox="1"/>
          <p:nvPr>
            <p:ph type="title"/>
          </p:nvPr>
        </p:nvSpPr>
        <p:spPr>
          <a:xfrm>
            <a:off x="697350" y="3071825"/>
            <a:ext cx="7749300" cy="876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First Order Model</a:t>
            </a:r>
            <a:endParaRPr/>
          </a:p>
        </p:txBody>
      </p:sp>
      <p:sp>
        <p:nvSpPr>
          <p:cNvPr id="412" name="Google Shape;412;p64"/>
          <p:cNvSpPr txBox="1"/>
          <p:nvPr>
            <p:ph idx="2" type="title"/>
          </p:nvPr>
        </p:nvSpPr>
        <p:spPr>
          <a:xfrm>
            <a:off x="3278250" y="1194450"/>
            <a:ext cx="2587500" cy="182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65"/>
          <p:cNvPicPr preferRelativeResize="0"/>
          <p:nvPr/>
        </p:nvPicPr>
        <p:blipFill>
          <a:blip r:embed="rId3">
            <a:alphaModFix/>
          </a:blip>
          <a:stretch>
            <a:fillRect/>
          </a:stretch>
        </p:blipFill>
        <p:spPr>
          <a:xfrm>
            <a:off x="196750" y="972675"/>
            <a:ext cx="8839198" cy="27701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66"/>
          <p:cNvPicPr preferRelativeResize="0"/>
          <p:nvPr/>
        </p:nvPicPr>
        <p:blipFill>
          <a:blip r:embed="rId3">
            <a:alphaModFix/>
          </a:blip>
          <a:stretch>
            <a:fillRect/>
          </a:stretch>
        </p:blipFill>
        <p:spPr>
          <a:xfrm>
            <a:off x="4417525" y="422750"/>
            <a:ext cx="4504800" cy="689850"/>
          </a:xfrm>
          <a:prstGeom prst="rect">
            <a:avLst/>
          </a:prstGeom>
          <a:noFill/>
          <a:ln>
            <a:noFill/>
          </a:ln>
        </p:spPr>
      </p:pic>
      <p:pic>
        <p:nvPicPr>
          <p:cNvPr id="423" name="Google Shape;423;p66"/>
          <p:cNvPicPr preferRelativeResize="0"/>
          <p:nvPr/>
        </p:nvPicPr>
        <p:blipFill rotWithShape="1">
          <a:blip r:embed="rId4">
            <a:alphaModFix/>
          </a:blip>
          <a:srcRect b="0" l="0" r="0" t="15797"/>
          <a:stretch/>
        </p:blipFill>
        <p:spPr>
          <a:xfrm>
            <a:off x="4417525" y="1417600"/>
            <a:ext cx="4504799" cy="560375"/>
          </a:xfrm>
          <a:prstGeom prst="rect">
            <a:avLst/>
          </a:prstGeom>
          <a:noFill/>
          <a:ln>
            <a:noFill/>
          </a:ln>
        </p:spPr>
      </p:pic>
      <p:sp>
        <p:nvSpPr>
          <p:cNvPr id="424" name="Google Shape;424;p66"/>
          <p:cNvSpPr txBox="1"/>
          <p:nvPr>
            <p:ph idx="1" type="body"/>
          </p:nvPr>
        </p:nvSpPr>
        <p:spPr>
          <a:xfrm>
            <a:off x="4417513" y="2282975"/>
            <a:ext cx="4504800" cy="2702100"/>
          </a:xfrm>
          <a:prstGeom prst="rect">
            <a:avLst/>
          </a:prstGeom>
          <a:ln>
            <a:noFill/>
          </a:ln>
        </p:spPr>
        <p:txBody>
          <a:bodyPr anchorCtr="0" anchor="ctr" bIns="0" lIns="0" spcFirstLastPara="1" rIns="0" wrap="square" tIns="0">
            <a:noAutofit/>
          </a:bodyPr>
          <a:lstStyle/>
          <a:p>
            <a:pPr indent="0" lvl="0" marL="0" rtl="0" algn="l">
              <a:spcBef>
                <a:spcPts val="0"/>
              </a:spcBef>
              <a:spcAft>
                <a:spcPts val="0"/>
              </a:spcAft>
              <a:buNone/>
            </a:pPr>
            <a:r>
              <a:rPr lang="en" sz="2200"/>
              <a:t> </a:t>
            </a:r>
            <a:r>
              <a:rPr lang="en" sz="2500">
                <a:latin typeface="Barlow Light"/>
                <a:ea typeface="Barlow Light"/>
                <a:cs typeface="Barlow Light"/>
                <a:sym typeface="Barlow Light"/>
              </a:rPr>
              <a:t>α = 0.05</a:t>
            </a:r>
            <a:endParaRPr sz="2500">
              <a:latin typeface="Barlow Light"/>
              <a:ea typeface="Barlow Light"/>
              <a:cs typeface="Barlow Light"/>
              <a:sym typeface="Barlow Light"/>
            </a:endParaRPr>
          </a:p>
          <a:p>
            <a:pPr indent="0" lvl="0" marL="0" rtl="0" algn="l">
              <a:spcBef>
                <a:spcPts val="0"/>
              </a:spcBef>
              <a:spcAft>
                <a:spcPts val="0"/>
              </a:spcAft>
              <a:buClr>
                <a:schemeClr val="lt1"/>
              </a:buClr>
              <a:buSzPts val="1100"/>
              <a:buFont typeface="Arial"/>
              <a:buNone/>
            </a:pPr>
            <a:r>
              <a:t/>
            </a:r>
            <a:endParaRPr sz="2500">
              <a:latin typeface="Barlow Light"/>
              <a:ea typeface="Barlow Light"/>
              <a:cs typeface="Barlow Light"/>
              <a:sym typeface="Barlow Light"/>
            </a:endParaRPr>
          </a:p>
          <a:p>
            <a:pPr indent="0" lvl="0" marL="0" rtl="0" algn="l">
              <a:spcBef>
                <a:spcPts val="0"/>
              </a:spcBef>
              <a:spcAft>
                <a:spcPts val="0"/>
              </a:spcAft>
              <a:buClr>
                <a:schemeClr val="lt1"/>
              </a:buClr>
              <a:buSzPts val="1100"/>
              <a:buFont typeface="Arial"/>
              <a:buNone/>
            </a:pPr>
            <a:r>
              <a:rPr lang="en" sz="2500">
                <a:latin typeface="Barlow Light"/>
                <a:ea typeface="Barlow Light"/>
                <a:cs typeface="Barlow Light"/>
                <a:sym typeface="Barlow Light"/>
              </a:rPr>
              <a:t> P  = 2.2e-16 &lt; 0.05</a:t>
            </a:r>
            <a:endParaRPr sz="2500">
              <a:latin typeface="Barlow Light"/>
              <a:ea typeface="Barlow Light"/>
              <a:cs typeface="Barlow Light"/>
              <a:sym typeface="Barlow Light"/>
            </a:endParaRPr>
          </a:p>
          <a:p>
            <a:pPr indent="0" lvl="0" marL="0" rtl="0" algn="l">
              <a:spcBef>
                <a:spcPts val="0"/>
              </a:spcBef>
              <a:spcAft>
                <a:spcPts val="0"/>
              </a:spcAft>
              <a:buClr>
                <a:schemeClr val="lt1"/>
              </a:buClr>
              <a:buSzPts val="1100"/>
              <a:buFont typeface="Arial"/>
              <a:buNone/>
            </a:pPr>
            <a:r>
              <a:t/>
            </a:r>
            <a:endParaRPr sz="2500">
              <a:latin typeface="Barlow Light"/>
              <a:ea typeface="Barlow Light"/>
              <a:cs typeface="Barlow Light"/>
              <a:sym typeface="Barlow Light"/>
            </a:endParaRPr>
          </a:p>
          <a:p>
            <a:pPr indent="0" lvl="0" marL="0" rtl="0" algn="l">
              <a:spcBef>
                <a:spcPts val="0"/>
              </a:spcBef>
              <a:spcAft>
                <a:spcPts val="0"/>
              </a:spcAft>
              <a:buClr>
                <a:schemeClr val="lt1"/>
              </a:buClr>
              <a:buSzPts val="1100"/>
              <a:buFont typeface="Arial"/>
              <a:buNone/>
            </a:pPr>
            <a:r>
              <a:rPr lang="en" sz="2500">
                <a:latin typeface="Barlow Light"/>
                <a:ea typeface="Barlow Light"/>
                <a:cs typeface="Barlow Light"/>
                <a:sym typeface="Barlow Light"/>
              </a:rPr>
              <a:t>Reject H0, can conclude the model is useful and proceed!</a:t>
            </a:r>
            <a:endParaRPr sz="2500">
              <a:latin typeface="Barlow Light"/>
              <a:ea typeface="Barlow Light"/>
              <a:cs typeface="Barlow Light"/>
              <a:sym typeface="Barlow Light"/>
            </a:endParaRPr>
          </a:p>
          <a:p>
            <a:pPr indent="0" lvl="0" marL="0" rtl="0" algn="l">
              <a:spcBef>
                <a:spcPts val="0"/>
              </a:spcBef>
              <a:spcAft>
                <a:spcPts val="0"/>
              </a:spcAft>
              <a:buClr>
                <a:schemeClr val="lt1"/>
              </a:buClr>
              <a:buSzPts val="1100"/>
              <a:buFont typeface="Arial"/>
              <a:buNone/>
            </a:pPr>
            <a:r>
              <a:t/>
            </a:r>
            <a:endParaRPr sz="1800">
              <a:latin typeface="Barlow Light"/>
              <a:ea typeface="Barlow Light"/>
              <a:cs typeface="Barlow Light"/>
              <a:sym typeface="Barlow Light"/>
            </a:endParaRPr>
          </a:p>
          <a:p>
            <a:pPr indent="0" lvl="0" marL="0" rtl="0" algn="l">
              <a:spcBef>
                <a:spcPts val="0"/>
              </a:spcBef>
              <a:spcAft>
                <a:spcPts val="0"/>
              </a:spcAft>
              <a:buNone/>
            </a:pPr>
            <a:r>
              <a:t/>
            </a:r>
            <a:endParaRPr sz="1800">
              <a:latin typeface="Barlow Light"/>
              <a:ea typeface="Barlow Light"/>
              <a:cs typeface="Barlow Light"/>
              <a:sym typeface="Barlow Light"/>
            </a:endParaRPr>
          </a:p>
        </p:txBody>
      </p:sp>
      <p:pic>
        <p:nvPicPr>
          <p:cNvPr id="425" name="Google Shape;425;p66"/>
          <p:cNvPicPr preferRelativeResize="0"/>
          <p:nvPr/>
        </p:nvPicPr>
        <p:blipFill>
          <a:blip r:embed="rId5">
            <a:alphaModFix/>
          </a:blip>
          <a:stretch>
            <a:fillRect/>
          </a:stretch>
        </p:blipFill>
        <p:spPr>
          <a:xfrm>
            <a:off x="203850" y="559650"/>
            <a:ext cx="4134875" cy="4024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7"/>
          <p:cNvSpPr txBox="1"/>
          <p:nvPr>
            <p:ph type="title"/>
          </p:nvPr>
        </p:nvSpPr>
        <p:spPr>
          <a:xfrm>
            <a:off x="697350" y="3071825"/>
            <a:ext cx="7749300" cy="876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Stepwise Regression</a:t>
            </a:r>
            <a:endParaRPr/>
          </a:p>
        </p:txBody>
      </p:sp>
      <p:sp>
        <p:nvSpPr>
          <p:cNvPr id="431" name="Google Shape;431;p67"/>
          <p:cNvSpPr txBox="1"/>
          <p:nvPr>
            <p:ph idx="2" type="title"/>
          </p:nvPr>
        </p:nvSpPr>
        <p:spPr>
          <a:xfrm>
            <a:off x="3278250" y="1194450"/>
            <a:ext cx="2587500" cy="182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5" name="Shape 435"/>
        <p:cNvGrpSpPr/>
        <p:nvPr/>
      </p:nvGrpSpPr>
      <p:grpSpPr>
        <a:xfrm>
          <a:off x="0" y="0"/>
          <a:ext cx="0" cy="0"/>
          <a:chOff x="0" y="0"/>
          <a:chExt cx="0" cy="0"/>
        </a:xfrm>
      </p:grpSpPr>
      <p:sp>
        <p:nvSpPr>
          <p:cNvPr id="436" name="Google Shape;436;p68"/>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Forward Stepwise Regression </a:t>
            </a:r>
            <a:endParaRPr sz="3600">
              <a:solidFill>
                <a:schemeClr val="lt1"/>
              </a:solidFill>
              <a:latin typeface="Hepta Slab"/>
              <a:ea typeface="Hepta Slab"/>
              <a:cs typeface="Hepta Slab"/>
              <a:sym typeface="Hepta Slab"/>
            </a:endParaRPr>
          </a:p>
        </p:txBody>
      </p:sp>
      <p:sp>
        <p:nvSpPr>
          <p:cNvPr id="437" name="Google Shape;437;p68"/>
          <p:cNvSpPr/>
          <p:nvPr/>
        </p:nvSpPr>
        <p:spPr>
          <a:xfrm>
            <a:off x="1927825" y="2010276"/>
            <a:ext cx="1765500" cy="876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
        <p:nvSpPr>
          <p:cNvPr id="438" name="Google Shape;438;p68"/>
          <p:cNvSpPr txBox="1"/>
          <p:nvPr/>
        </p:nvSpPr>
        <p:spPr>
          <a:xfrm>
            <a:off x="1058475" y="3368925"/>
            <a:ext cx="18564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Barlow Light"/>
                <a:ea typeface="Barlow Light"/>
                <a:cs typeface="Barlow Light"/>
                <a:sym typeface="Barlow Light"/>
              </a:rPr>
              <a:t>Variable that was </a:t>
            </a:r>
            <a:r>
              <a:rPr lang="en" sz="2000">
                <a:solidFill>
                  <a:schemeClr val="lt1"/>
                </a:solidFill>
                <a:latin typeface="Barlow Light"/>
                <a:ea typeface="Barlow Light"/>
                <a:cs typeface="Barlow Light"/>
                <a:sym typeface="Barlow Light"/>
              </a:rPr>
              <a:t>removed: </a:t>
            </a:r>
            <a:endParaRPr sz="2000">
              <a:solidFill>
                <a:schemeClr val="lt1"/>
              </a:solidFill>
              <a:latin typeface="Barlow Light"/>
              <a:ea typeface="Barlow Light"/>
              <a:cs typeface="Barlow Light"/>
              <a:sym typeface="Barlow Light"/>
            </a:endParaRPr>
          </a:p>
          <a:p>
            <a:pPr indent="0" lvl="0" marL="0" rtl="0" algn="l">
              <a:spcBef>
                <a:spcPts val="0"/>
              </a:spcBef>
              <a:spcAft>
                <a:spcPts val="0"/>
              </a:spcAft>
              <a:buNone/>
            </a:pPr>
            <a:r>
              <a:t/>
            </a:r>
            <a:endParaRPr sz="2500">
              <a:solidFill>
                <a:schemeClr val="lt1"/>
              </a:solidFill>
              <a:latin typeface="Barlow Light"/>
              <a:ea typeface="Barlow Light"/>
              <a:cs typeface="Barlow Light"/>
              <a:sym typeface="Barlow Light"/>
            </a:endParaRPr>
          </a:p>
        </p:txBody>
      </p:sp>
      <p:pic>
        <p:nvPicPr>
          <p:cNvPr id="439" name="Google Shape;439;p68"/>
          <p:cNvPicPr preferRelativeResize="0"/>
          <p:nvPr/>
        </p:nvPicPr>
        <p:blipFill>
          <a:blip r:embed="rId3">
            <a:alphaModFix/>
          </a:blip>
          <a:stretch>
            <a:fillRect/>
          </a:stretch>
        </p:blipFill>
        <p:spPr>
          <a:xfrm>
            <a:off x="1850225" y="1348800"/>
            <a:ext cx="6335326" cy="1637550"/>
          </a:xfrm>
          <a:prstGeom prst="rect">
            <a:avLst/>
          </a:prstGeom>
          <a:noFill/>
          <a:ln>
            <a:noFill/>
          </a:ln>
        </p:spPr>
      </p:pic>
      <p:sp>
        <p:nvSpPr>
          <p:cNvPr id="440" name="Google Shape;440;p68"/>
          <p:cNvSpPr txBox="1"/>
          <p:nvPr/>
        </p:nvSpPr>
        <p:spPr>
          <a:xfrm>
            <a:off x="3023488" y="3553150"/>
            <a:ext cx="41568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Alcohol </a:t>
            </a:r>
            <a:r>
              <a:rPr b="1" lang="en" sz="1800">
                <a:solidFill>
                  <a:schemeClr val="lt1"/>
                </a:solidFill>
              </a:rPr>
              <a:t>consumption</a:t>
            </a:r>
            <a:endParaRPr b="1" sz="18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4" name="Shape 444"/>
        <p:cNvGrpSpPr/>
        <p:nvPr/>
      </p:nvGrpSpPr>
      <p:grpSpPr>
        <a:xfrm>
          <a:off x="0" y="0"/>
          <a:ext cx="0" cy="0"/>
          <a:chOff x="0" y="0"/>
          <a:chExt cx="0" cy="0"/>
        </a:xfrm>
      </p:grpSpPr>
      <p:sp>
        <p:nvSpPr>
          <p:cNvPr id="445" name="Google Shape;445;p6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69"/>
          <p:cNvSpPr txBox="1"/>
          <p:nvPr>
            <p:ph idx="1" type="subTitle"/>
          </p:nvPr>
        </p:nvSpPr>
        <p:spPr>
          <a:xfrm>
            <a:off x="492300" y="362875"/>
            <a:ext cx="8159400" cy="7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Stepwise Conclusion</a:t>
            </a:r>
            <a:endParaRPr>
              <a:solidFill>
                <a:schemeClr val="lt1"/>
              </a:solidFill>
            </a:endParaRPr>
          </a:p>
        </p:txBody>
      </p:sp>
      <p:sp>
        <p:nvSpPr>
          <p:cNvPr id="447" name="Google Shape;447;p69"/>
          <p:cNvSpPr txBox="1"/>
          <p:nvPr/>
        </p:nvSpPr>
        <p:spPr>
          <a:xfrm>
            <a:off x="0" y="1864275"/>
            <a:ext cx="6030300" cy="2910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Our stepwise forward shows 9/10 of our starting variables to be </a:t>
            </a:r>
            <a:r>
              <a:rPr lang="en" sz="1500">
                <a:solidFill>
                  <a:schemeClr val="dk1"/>
                </a:solidFill>
                <a:latin typeface="Barlow Light"/>
                <a:ea typeface="Barlow Light"/>
                <a:cs typeface="Barlow Light"/>
                <a:sym typeface="Barlow Light"/>
              </a:rPr>
              <a:t>statistically</a:t>
            </a:r>
            <a:r>
              <a:rPr lang="en" sz="1500">
                <a:solidFill>
                  <a:schemeClr val="dk1"/>
                </a:solidFill>
                <a:latin typeface="Barlow Light"/>
                <a:ea typeface="Barlow Light"/>
                <a:cs typeface="Barlow Light"/>
                <a:sym typeface="Barlow Light"/>
              </a:rPr>
              <a:t> significant:</a:t>
            </a:r>
            <a:endParaRPr sz="1500">
              <a:solidFill>
                <a:schemeClr val="dk1"/>
              </a:solidFill>
              <a:latin typeface="Barlow Light"/>
              <a:ea typeface="Barlow Light"/>
              <a:cs typeface="Barlow Light"/>
              <a:sym typeface="Barlow Light"/>
            </a:endParaRPr>
          </a:p>
          <a:p>
            <a:pPr indent="-323850" lvl="1" marL="9144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Both stepwise regressions removed </a:t>
            </a:r>
            <a:r>
              <a:rPr b="1" lang="en" sz="1500">
                <a:solidFill>
                  <a:schemeClr val="dk1"/>
                </a:solidFill>
                <a:latin typeface="Barlow"/>
                <a:ea typeface="Barlow"/>
                <a:cs typeface="Barlow"/>
                <a:sym typeface="Barlow"/>
              </a:rPr>
              <a:t>alcohol</a:t>
            </a:r>
            <a:r>
              <a:rPr b="1" lang="en" sz="1500">
                <a:solidFill>
                  <a:schemeClr val="dk1"/>
                </a:solidFill>
                <a:latin typeface="Barlow"/>
                <a:ea typeface="Barlow"/>
                <a:cs typeface="Barlow"/>
                <a:sym typeface="Barlow"/>
              </a:rPr>
              <a:t> consumption</a:t>
            </a:r>
            <a:r>
              <a:rPr lang="en" sz="1500">
                <a:solidFill>
                  <a:schemeClr val="dk1"/>
                </a:solidFill>
                <a:latin typeface="Barlow Light"/>
                <a:ea typeface="Barlow Light"/>
                <a:cs typeface="Barlow Light"/>
                <a:sym typeface="Barlow Light"/>
              </a:rPr>
              <a:t> as a variable</a:t>
            </a:r>
            <a:endParaRPr sz="1500">
              <a:solidFill>
                <a:schemeClr val="dk1"/>
              </a:solidFill>
              <a:latin typeface="Barlow Light"/>
              <a:ea typeface="Barlow Light"/>
              <a:cs typeface="Barlow Light"/>
              <a:sym typeface="Barlow Light"/>
            </a:endParaRPr>
          </a:p>
          <a:p>
            <a:pPr indent="-323850" lvl="1" marL="9144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After checking the p-value  (0.7807) from our model summary, we decided </a:t>
            </a:r>
            <a:r>
              <a:rPr b="1" lang="en" sz="1500">
                <a:solidFill>
                  <a:schemeClr val="dk1"/>
                </a:solidFill>
                <a:latin typeface="Barlow"/>
                <a:ea typeface="Barlow"/>
                <a:cs typeface="Barlow"/>
                <a:sym typeface="Barlow"/>
              </a:rPr>
              <a:t>not</a:t>
            </a:r>
            <a:r>
              <a:rPr lang="en" sz="1500">
                <a:solidFill>
                  <a:schemeClr val="dk1"/>
                </a:solidFill>
                <a:latin typeface="Barlow Light"/>
                <a:ea typeface="Barlow Light"/>
                <a:cs typeface="Barlow Light"/>
                <a:sym typeface="Barlow Light"/>
              </a:rPr>
              <a:t> to include it in our parsimonious model</a:t>
            </a:r>
            <a:endParaRPr sz="15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1500">
              <a:solidFill>
                <a:schemeClr val="dk1"/>
              </a:solidFill>
              <a:latin typeface="Barlow Light"/>
              <a:ea typeface="Barlow Light"/>
              <a:cs typeface="Barlow Light"/>
              <a:sym typeface="Barlow Light"/>
            </a:endParaRPr>
          </a:p>
          <a:p>
            <a:pPr indent="-323850" lvl="0" marL="457200" rtl="0" algn="l">
              <a:spcBef>
                <a:spcPts val="0"/>
              </a:spcBef>
              <a:spcAft>
                <a:spcPts val="0"/>
              </a:spcAft>
              <a:buClr>
                <a:schemeClr val="dk1"/>
              </a:buClr>
              <a:buSzPts val="1500"/>
              <a:buFont typeface="Barlow Light"/>
              <a:buChar char="-"/>
            </a:pPr>
            <a:r>
              <a:rPr lang="en" sz="1500">
                <a:solidFill>
                  <a:schemeClr val="dk1"/>
                </a:solidFill>
                <a:latin typeface="Barlow Light"/>
                <a:ea typeface="Barlow Light"/>
                <a:cs typeface="Barlow Light"/>
                <a:sym typeface="Barlow Light"/>
              </a:rPr>
              <a:t>Our new first order model: </a:t>
            </a:r>
            <a:endParaRPr sz="1500">
              <a:solidFill>
                <a:schemeClr val="dk1"/>
              </a:solidFill>
              <a:latin typeface="Barlow Light"/>
              <a:ea typeface="Barlow Light"/>
              <a:cs typeface="Barlow Light"/>
              <a:sym typeface="Barlow Light"/>
            </a:endParaRPr>
          </a:p>
        </p:txBody>
      </p:sp>
      <p:pic>
        <p:nvPicPr>
          <p:cNvPr id="448" name="Google Shape;448;p69"/>
          <p:cNvPicPr preferRelativeResize="0"/>
          <p:nvPr/>
        </p:nvPicPr>
        <p:blipFill>
          <a:blip r:embed="rId3">
            <a:alphaModFix/>
          </a:blip>
          <a:stretch>
            <a:fillRect/>
          </a:stretch>
        </p:blipFill>
        <p:spPr>
          <a:xfrm>
            <a:off x="6030302" y="1864275"/>
            <a:ext cx="2990647" cy="2910599"/>
          </a:xfrm>
          <a:prstGeom prst="rect">
            <a:avLst/>
          </a:prstGeom>
          <a:noFill/>
          <a:ln>
            <a:noFill/>
          </a:ln>
        </p:spPr>
      </p:pic>
      <p:pic>
        <p:nvPicPr>
          <p:cNvPr id="449" name="Google Shape;449;p69"/>
          <p:cNvPicPr preferRelativeResize="0"/>
          <p:nvPr/>
        </p:nvPicPr>
        <p:blipFill>
          <a:blip r:embed="rId4">
            <a:alphaModFix/>
          </a:blip>
          <a:stretch>
            <a:fillRect/>
          </a:stretch>
        </p:blipFill>
        <p:spPr>
          <a:xfrm>
            <a:off x="667725" y="4175150"/>
            <a:ext cx="5143999" cy="528425"/>
          </a:xfrm>
          <a:prstGeom prst="rect">
            <a:avLst/>
          </a:prstGeom>
          <a:noFill/>
          <a:ln>
            <a:noFill/>
          </a:ln>
        </p:spPr>
      </p:pic>
      <p:cxnSp>
        <p:nvCxnSpPr>
          <p:cNvPr id="450" name="Google Shape;450;p69"/>
          <p:cNvCxnSpPr/>
          <p:nvPr/>
        </p:nvCxnSpPr>
        <p:spPr>
          <a:xfrm>
            <a:off x="5591575" y="2688425"/>
            <a:ext cx="2837700" cy="513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0"/>
          <p:cNvSpPr txBox="1"/>
          <p:nvPr>
            <p:ph idx="4294967295" type="body"/>
          </p:nvPr>
        </p:nvSpPr>
        <p:spPr>
          <a:xfrm>
            <a:off x="464225" y="1248825"/>
            <a:ext cx="7121700" cy="37524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Clr>
                <a:schemeClr val="dk1"/>
              </a:buClr>
              <a:buSzPts val="2700"/>
              <a:buChar char="●"/>
            </a:pPr>
            <a:r>
              <a:rPr b="1" lang="en" sz="2700">
                <a:solidFill>
                  <a:schemeClr val="dk1"/>
                </a:solidFill>
                <a:latin typeface="Barlow"/>
                <a:ea typeface="Barlow"/>
                <a:cs typeface="Barlow"/>
                <a:sym typeface="Barlow"/>
              </a:rPr>
              <a:t>Dependent variable</a:t>
            </a:r>
            <a:r>
              <a:rPr lang="en" sz="2700">
                <a:solidFill>
                  <a:schemeClr val="dk1"/>
                </a:solidFill>
              </a:rPr>
              <a:t>: Life_expectancy</a:t>
            </a:r>
            <a:endParaRPr sz="2700">
              <a:solidFill>
                <a:schemeClr val="dk1"/>
              </a:solidFill>
            </a:endParaRPr>
          </a:p>
          <a:p>
            <a:pPr indent="-400050" lvl="0" marL="457200" rtl="0" algn="l">
              <a:spcBef>
                <a:spcPts val="0"/>
              </a:spcBef>
              <a:spcAft>
                <a:spcPts val="0"/>
              </a:spcAft>
              <a:buClr>
                <a:schemeClr val="dk1"/>
              </a:buClr>
              <a:buSzPts val="2700"/>
              <a:buChar char="●"/>
            </a:pPr>
            <a:r>
              <a:rPr b="1" lang="en" sz="2700">
                <a:solidFill>
                  <a:schemeClr val="dk1"/>
                </a:solidFill>
                <a:latin typeface="Barlow"/>
                <a:ea typeface="Barlow"/>
                <a:cs typeface="Barlow"/>
                <a:sym typeface="Barlow"/>
              </a:rPr>
              <a:t>Independent variables (</a:t>
            </a:r>
            <a:r>
              <a:rPr b="1" lang="en" sz="2700">
                <a:latin typeface="Barlow"/>
                <a:ea typeface="Barlow"/>
                <a:cs typeface="Barlow"/>
                <a:sym typeface="Barlow"/>
              </a:rPr>
              <a:t>9</a:t>
            </a:r>
            <a:r>
              <a:rPr b="1" lang="en" sz="2700">
                <a:solidFill>
                  <a:schemeClr val="dk1"/>
                </a:solidFill>
                <a:latin typeface="Barlow"/>
                <a:ea typeface="Barlow"/>
                <a:cs typeface="Barlow"/>
                <a:sym typeface="Barlow"/>
              </a:rPr>
              <a:t>)</a:t>
            </a:r>
            <a:r>
              <a:rPr lang="en" sz="2700">
                <a:solidFill>
                  <a:schemeClr val="dk1"/>
                </a:solidFill>
              </a:rPr>
              <a:t>: </a:t>
            </a:r>
            <a:endParaRPr sz="2700">
              <a:solidFill>
                <a:schemeClr val="dk1"/>
              </a:solidFill>
            </a:endParaRPr>
          </a:p>
          <a:p>
            <a:pPr indent="0" lvl="0" marL="457200" rtl="0" algn="l">
              <a:spcBef>
                <a:spcPts val="0"/>
              </a:spcBef>
              <a:spcAft>
                <a:spcPts val="0"/>
              </a:spcAft>
              <a:buNone/>
            </a:pPr>
            <a:r>
              <a:rPr lang="en" sz="2700">
                <a:solidFill>
                  <a:schemeClr val="dk1"/>
                </a:solidFill>
              </a:rPr>
              <a:t>Hepatitis_B, Measles, BMI, Incidents_HIV, GDP_per_capita, Population_mln, Thinness_ten_nineteen_years, Thinness_five_nine_years, Schooling</a:t>
            </a:r>
            <a:endParaRPr sz="3400">
              <a:solidFill>
                <a:schemeClr val="dk1"/>
              </a:solidFill>
            </a:endParaRPr>
          </a:p>
        </p:txBody>
      </p:sp>
      <p:sp>
        <p:nvSpPr>
          <p:cNvPr id="456" name="Google Shape;456;p70"/>
          <p:cNvSpPr txBox="1"/>
          <p:nvPr>
            <p:ph type="title"/>
          </p:nvPr>
        </p:nvSpPr>
        <p:spPr>
          <a:xfrm>
            <a:off x="371400" y="282525"/>
            <a:ext cx="5343600" cy="966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Final Variables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1"/>
          <p:cNvSpPr txBox="1"/>
          <p:nvPr>
            <p:ph type="title"/>
          </p:nvPr>
        </p:nvSpPr>
        <p:spPr>
          <a:xfrm>
            <a:off x="697350" y="3071825"/>
            <a:ext cx="7749300" cy="876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Comparing Models</a:t>
            </a:r>
            <a:endParaRPr/>
          </a:p>
          <a:p>
            <a:pPr indent="0" lvl="0" marL="0" rtl="0" algn="ctr">
              <a:spcBef>
                <a:spcPts val="0"/>
              </a:spcBef>
              <a:spcAft>
                <a:spcPts val="0"/>
              </a:spcAft>
              <a:buNone/>
            </a:pPr>
            <a:r>
              <a:rPr lang="en"/>
              <a:t>(Four in total)</a:t>
            </a:r>
            <a:endParaRPr/>
          </a:p>
        </p:txBody>
      </p:sp>
      <p:sp>
        <p:nvSpPr>
          <p:cNvPr id="462" name="Google Shape;462;p71"/>
          <p:cNvSpPr txBox="1"/>
          <p:nvPr>
            <p:ph idx="2" type="title"/>
          </p:nvPr>
        </p:nvSpPr>
        <p:spPr>
          <a:xfrm>
            <a:off x="3278250" y="1194450"/>
            <a:ext cx="2587500" cy="182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6" name="Shape 466"/>
        <p:cNvGrpSpPr/>
        <p:nvPr/>
      </p:nvGrpSpPr>
      <p:grpSpPr>
        <a:xfrm>
          <a:off x="0" y="0"/>
          <a:ext cx="0" cy="0"/>
          <a:chOff x="0" y="0"/>
          <a:chExt cx="0" cy="0"/>
        </a:xfrm>
      </p:grpSpPr>
      <p:sp>
        <p:nvSpPr>
          <p:cNvPr id="467" name="Google Shape;467;p72"/>
          <p:cNvSpPr txBox="1"/>
          <p:nvPr>
            <p:ph idx="1" type="subTitle"/>
          </p:nvPr>
        </p:nvSpPr>
        <p:spPr>
          <a:xfrm>
            <a:off x="311700" y="2752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Model 1: First order complete </a:t>
            </a:r>
            <a:endParaRPr sz="3600">
              <a:solidFill>
                <a:schemeClr val="lt1"/>
              </a:solidFill>
              <a:latin typeface="Hepta Slab"/>
              <a:ea typeface="Hepta Slab"/>
              <a:cs typeface="Hepta Slab"/>
              <a:sym typeface="Hepta Slab"/>
            </a:endParaRPr>
          </a:p>
        </p:txBody>
      </p:sp>
      <p:pic>
        <p:nvPicPr>
          <p:cNvPr id="468" name="Google Shape;468;p72"/>
          <p:cNvPicPr preferRelativeResize="0"/>
          <p:nvPr/>
        </p:nvPicPr>
        <p:blipFill>
          <a:blip r:embed="rId3">
            <a:alphaModFix/>
          </a:blip>
          <a:stretch>
            <a:fillRect/>
          </a:stretch>
        </p:blipFill>
        <p:spPr>
          <a:xfrm>
            <a:off x="1565975" y="1933088"/>
            <a:ext cx="6237624" cy="127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2" name="Shape 472"/>
        <p:cNvGrpSpPr/>
        <p:nvPr/>
      </p:nvGrpSpPr>
      <p:grpSpPr>
        <a:xfrm>
          <a:off x="0" y="0"/>
          <a:ext cx="0" cy="0"/>
          <a:chOff x="0" y="0"/>
          <a:chExt cx="0" cy="0"/>
        </a:xfrm>
      </p:grpSpPr>
      <p:sp>
        <p:nvSpPr>
          <p:cNvPr id="473" name="Google Shape;473;p73"/>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fontScale="62500"/>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Model 2: Second Order with Only Interaction Terms</a:t>
            </a:r>
            <a:endParaRPr sz="3600">
              <a:solidFill>
                <a:schemeClr val="lt1"/>
              </a:solidFill>
              <a:latin typeface="Hepta Slab"/>
              <a:ea typeface="Hepta Slab"/>
              <a:cs typeface="Hepta Slab"/>
              <a:sym typeface="Hepta Slab"/>
            </a:endParaRPr>
          </a:p>
        </p:txBody>
      </p:sp>
      <p:pic>
        <p:nvPicPr>
          <p:cNvPr id="474" name="Google Shape;474;p73"/>
          <p:cNvPicPr preferRelativeResize="0"/>
          <p:nvPr/>
        </p:nvPicPr>
        <p:blipFill>
          <a:blip r:embed="rId3">
            <a:alphaModFix/>
          </a:blip>
          <a:stretch>
            <a:fillRect/>
          </a:stretch>
        </p:blipFill>
        <p:spPr>
          <a:xfrm>
            <a:off x="311700" y="877325"/>
            <a:ext cx="5054601" cy="2227450"/>
          </a:xfrm>
          <a:prstGeom prst="rect">
            <a:avLst/>
          </a:prstGeom>
          <a:noFill/>
          <a:ln>
            <a:noFill/>
          </a:ln>
        </p:spPr>
      </p:pic>
      <p:pic>
        <p:nvPicPr>
          <p:cNvPr id="475" name="Google Shape;475;p73"/>
          <p:cNvPicPr preferRelativeResize="0"/>
          <p:nvPr/>
        </p:nvPicPr>
        <p:blipFill>
          <a:blip r:embed="rId4">
            <a:alphaModFix/>
          </a:blip>
          <a:stretch>
            <a:fillRect/>
          </a:stretch>
        </p:blipFill>
        <p:spPr>
          <a:xfrm>
            <a:off x="152400" y="3447675"/>
            <a:ext cx="8839197" cy="10259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9" name="Shape 479"/>
        <p:cNvGrpSpPr/>
        <p:nvPr/>
      </p:nvGrpSpPr>
      <p:grpSpPr>
        <a:xfrm>
          <a:off x="0" y="0"/>
          <a:ext cx="0" cy="0"/>
          <a:chOff x="0" y="0"/>
          <a:chExt cx="0" cy="0"/>
        </a:xfrm>
      </p:grpSpPr>
      <p:sp>
        <p:nvSpPr>
          <p:cNvPr id="480" name="Google Shape;480;p74"/>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Model3: Second Order with Squared Terms</a:t>
            </a:r>
            <a:endParaRPr sz="3600">
              <a:solidFill>
                <a:schemeClr val="lt1"/>
              </a:solidFill>
              <a:latin typeface="Hepta Slab"/>
              <a:ea typeface="Hepta Slab"/>
              <a:cs typeface="Hepta Slab"/>
              <a:sym typeface="Hepta Slab"/>
            </a:endParaRPr>
          </a:p>
        </p:txBody>
      </p:sp>
      <p:pic>
        <p:nvPicPr>
          <p:cNvPr id="481" name="Google Shape;481;p74"/>
          <p:cNvPicPr preferRelativeResize="0"/>
          <p:nvPr/>
        </p:nvPicPr>
        <p:blipFill>
          <a:blip r:embed="rId3">
            <a:alphaModFix/>
          </a:blip>
          <a:stretch>
            <a:fillRect/>
          </a:stretch>
        </p:blipFill>
        <p:spPr>
          <a:xfrm>
            <a:off x="152400" y="3708725"/>
            <a:ext cx="8839204" cy="565398"/>
          </a:xfrm>
          <a:prstGeom prst="rect">
            <a:avLst/>
          </a:prstGeom>
          <a:noFill/>
          <a:ln>
            <a:noFill/>
          </a:ln>
        </p:spPr>
      </p:pic>
      <p:pic>
        <p:nvPicPr>
          <p:cNvPr id="482" name="Google Shape;482;p74"/>
          <p:cNvPicPr preferRelativeResize="0"/>
          <p:nvPr/>
        </p:nvPicPr>
        <p:blipFill>
          <a:blip r:embed="rId4">
            <a:alphaModFix/>
          </a:blip>
          <a:stretch>
            <a:fillRect/>
          </a:stretch>
        </p:blipFill>
        <p:spPr>
          <a:xfrm>
            <a:off x="152400" y="1437948"/>
            <a:ext cx="8839200" cy="1658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6" name="Shape 486"/>
        <p:cNvGrpSpPr/>
        <p:nvPr/>
      </p:nvGrpSpPr>
      <p:grpSpPr>
        <a:xfrm>
          <a:off x="0" y="0"/>
          <a:ext cx="0" cy="0"/>
          <a:chOff x="0" y="0"/>
          <a:chExt cx="0" cy="0"/>
        </a:xfrm>
      </p:grpSpPr>
      <p:sp>
        <p:nvSpPr>
          <p:cNvPr id="487" name="Google Shape;487;p75"/>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Model4: complete second order</a:t>
            </a:r>
            <a:endParaRPr sz="3600">
              <a:solidFill>
                <a:schemeClr val="lt1"/>
              </a:solidFill>
              <a:latin typeface="Hepta Slab"/>
              <a:ea typeface="Hepta Slab"/>
              <a:cs typeface="Hepta Slab"/>
              <a:sym typeface="Hepta Slab"/>
            </a:endParaRPr>
          </a:p>
        </p:txBody>
      </p:sp>
      <p:pic>
        <p:nvPicPr>
          <p:cNvPr id="488" name="Google Shape;488;p75"/>
          <p:cNvPicPr preferRelativeResize="0"/>
          <p:nvPr/>
        </p:nvPicPr>
        <p:blipFill rotWithShape="1">
          <a:blip r:embed="rId3">
            <a:alphaModFix/>
          </a:blip>
          <a:srcRect b="4325" l="1950" r="-1950" t="0"/>
          <a:stretch/>
        </p:blipFill>
        <p:spPr>
          <a:xfrm>
            <a:off x="1341728" y="1118625"/>
            <a:ext cx="5134600" cy="2470949"/>
          </a:xfrm>
          <a:prstGeom prst="rect">
            <a:avLst/>
          </a:prstGeom>
          <a:noFill/>
          <a:ln>
            <a:noFill/>
          </a:ln>
        </p:spPr>
      </p:pic>
      <p:pic>
        <p:nvPicPr>
          <p:cNvPr id="489" name="Google Shape;489;p75"/>
          <p:cNvPicPr preferRelativeResize="0"/>
          <p:nvPr/>
        </p:nvPicPr>
        <p:blipFill>
          <a:blip r:embed="rId4">
            <a:alphaModFix/>
          </a:blip>
          <a:stretch>
            <a:fillRect/>
          </a:stretch>
        </p:blipFill>
        <p:spPr>
          <a:xfrm>
            <a:off x="152400" y="3741974"/>
            <a:ext cx="7636449" cy="1249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3" name="Shape 493"/>
        <p:cNvGrpSpPr/>
        <p:nvPr/>
      </p:nvGrpSpPr>
      <p:grpSpPr>
        <a:xfrm>
          <a:off x="0" y="0"/>
          <a:ext cx="0" cy="0"/>
          <a:chOff x="0" y="0"/>
          <a:chExt cx="0" cy="0"/>
        </a:xfrm>
      </p:grpSpPr>
      <p:sp>
        <p:nvSpPr>
          <p:cNvPr id="494" name="Google Shape;494;p76"/>
          <p:cNvSpPr txBox="1"/>
          <p:nvPr>
            <p:ph idx="1" type="subTitle"/>
          </p:nvPr>
        </p:nvSpPr>
        <p:spPr>
          <a:xfrm>
            <a:off x="311700" y="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ANOVA - Nested F Test</a:t>
            </a:r>
            <a:endParaRPr sz="3600">
              <a:solidFill>
                <a:schemeClr val="lt1"/>
              </a:solidFill>
              <a:latin typeface="Hepta Slab"/>
              <a:ea typeface="Hepta Slab"/>
              <a:cs typeface="Hepta Slab"/>
              <a:sym typeface="Hepta Slab"/>
            </a:endParaRPr>
          </a:p>
        </p:txBody>
      </p:sp>
      <p:graphicFrame>
        <p:nvGraphicFramePr>
          <p:cNvPr id="495" name="Google Shape;495;p76"/>
          <p:cNvGraphicFramePr/>
          <p:nvPr/>
        </p:nvGraphicFramePr>
        <p:xfrm>
          <a:off x="952500" y="702775"/>
          <a:ext cx="3000000" cy="3000000"/>
        </p:xfrm>
        <a:graphic>
          <a:graphicData uri="http://schemas.openxmlformats.org/drawingml/2006/table">
            <a:tbl>
              <a:tblPr>
                <a:noFill/>
                <a:tableStyleId>{5E251854-B5E9-4AEF-8513-373DF68D7002}</a:tableStyleId>
              </a:tblPr>
              <a:tblGrid>
                <a:gridCol w="2413000"/>
                <a:gridCol w="2413000"/>
                <a:gridCol w="2413000"/>
              </a:tblGrid>
              <a:tr h="381000">
                <a:tc>
                  <a:txBody>
                    <a:bodyPr/>
                    <a:lstStyle/>
                    <a:p>
                      <a:pPr indent="0" lvl="0" marL="0" rtl="0" algn="l">
                        <a:spcBef>
                          <a:spcPts val="0"/>
                        </a:spcBef>
                        <a:spcAft>
                          <a:spcPts val="0"/>
                        </a:spcAft>
                        <a:buNone/>
                      </a:pPr>
                      <a:r>
                        <a:rPr b="1" lang="en" u="sng">
                          <a:solidFill>
                            <a:schemeClr val="lt1"/>
                          </a:solidFill>
                        </a:rPr>
                        <a:t>Anova Test </a:t>
                      </a:r>
                      <a:endParaRPr b="1" u="sng">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u="sng">
                          <a:solidFill>
                            <a:schemeClr val="lt1"/>
                          </a:solidFill>
                        </a:rPr>
                        <a:t>Hypothesis</a:t>
                      </a:r>
                      <a:endParaRPr b="1" u="sng">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u="sng">
                          <a:solidFill>
                            <a:schemeClr val="lt1"/>
                          </a:solidFill>
                        </a:rPr>
                        <a:t>Result</a:t>
                      </a:r>
                      <a:endParaRPr b="1" u="sng">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3550">
                <a:tc>
                  <a:txBody>
                    <a:bodyPr/>
                    <a:lstStyle/>
                    <a:p>
                      <a:pPr indent="0" lvl="0" marL="0" rtl="0" algn="l">
                        <a:spcBef>
                          <a:spcPts val="0"/>
                        </a:spcBef>
                        <a:spcAft>
                          <a:spcPts val="0"/>
                        </a:spcAft>
                        <a:buNone/>
                      </a:pPr>
                      <a:r>
                        <a:rPr b="1" lang="en">
                          <a:solidFill>
                            <a:schemeClr val="lt1"/>
                          </a:solidFill>
                        </a:rPr>
                        <a:t>Complete 2nd Vs. 2nd order Squared only</a:t>
                      </a:r>
                      <a:endParaRPr b="1">
                        <a:solidFill>
                          <a:schemeClr val="lt1"/>
                        </a:solidFill>
                      </a:endParaRPr>
                    </a:p>
                    <a:p>
                      <a:pPr indent="0" lvl="0" marL="0" rtl="0" algn="l">
                        <a:spcBef>
                          <a:spcPts val="0"/>
                        </a:spcBef>
                        <a:spcAft>
                          <a:spcPts val="0"/>
                        </a:spcAft>
                        <a:buNone/>
                      </a:pPr>
                      <a:r>
                        <a:t/>
                      </a:r>
                      <a:endParaRPr b="1" u="sng">
                        <a:solidFill>
                          <a:schemeClr val="lt1"/>
                        </a:solidFill>
                      </a:endParaRPr>
                    </a:p>
                    <a:p>
                      <a:pPr indent="0" lvl="0" marL="0" rtl="0" algn="l">
                        <a:spcBef>
                          <a:spcPts val="0"/>
                        </a:spcBef>
                        <a:spcAft>
                          <a:spcPts val="0"/>
                        </a:spcAft>
                        <a:buNone/>
                      </a:pPr>
                      <a:r>
                        <a:rPr lang="en">
                          <a:solidFill>
                            <a:schemeClr val="lt1"/>
                          </a:solidFill>
                        </a:rPr>
                        <a:t>Anova(model4, model2)</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rPr>
                        <a:t>H0: B10=…B44=B45=0</a:t>
                      </a:r>
                      <a:endParaRPr>
                        <a:solidFill>
                          <a:schemeClr val="lt1"/>
                        </a:solidFill>
                      </a:endParaRPr>
                    </a:p>
                    <a:p>
                      <a:pPr indent="0" lvl="0" marL="0" rtl="0" algn="l">
                        <a:spcBef>
                          <a:spcPts val="0"/>
                        </a:spcBef>
                        <a:spcAft>
                          <a:spcPts val="0"/>
                        </a:spcAft>
                        <a:buNone/>
                      </a:pPr>
                      <a:r>
                        <a:rPr lang="en">
                          <a:solidFill>
                            <a:schemeClr val="lt1"/>
                          </a:solidFill>
                        </a:rPr>
                        <a:t>H1: at least one of the interaction term’s B’s is nonzero</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rPr>
                        <a:t>P value = 2.2e-16 *** </a:t>
                      </a:r>
                      <a:r>
                        <a:rPr lang="en">
                          <a:solidFill>
                            <a:schemeClr val="lt1"/>
                          </a:solidFill>
                        </a:rPr>
                        <a:t>&lt; alpha = 0.05</a:t>
                      </a:r>
                      <a:endParaRPr>
                        <a:solidFill>
                          <a:schemeClr val="lt1"/>
                        </a:solidFill>
                      </a:endParaRPr>
                    </a:p>
                    <a:p>
                      <a:pPr indent="0" lvl="0" marL="0" rtl="0" algn="l">
                        <a:spcBef>
                          <a:spcPts val="0"/>
                        </a:spcBef>
                        <a:spcAft>
                          <a:spcPts val="0"/>
                        </a:spcAft>
                        <a:buNone/>
                      </a:pPr>
                      <a:r>
                        <a:rPr lang="en">
                          <a:solidFill>
                            <a:schemeClr val="lt1"/>
                          </a:solidFill>
                        </a:rPr>
                        <a:t>Reject H0, at least one of the interaction terms Betas is nonzero</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chemeClr val="lt1"/>
                          </a:solidFill>
                        </a:rPr>
                        <a:t>Complete 2nd Vs. 2nd order interaction only</a:t>
                      </a:r>
                      <a:endParaRPr b="1">
                        <a:solidFill>
                          <a:schemeClr val="lt1"/>
                        </a:solidFill>
                      </a:endParaRPr>
                    </a:p>
                    <a:p>
                      <a:pPr indent="0" lvl="0" marL="0" rtl="0" algn="l">
                        <a:spcBef>
                          <a:spcPts val="0"/>
                        </a:spcBef>
                        <a:spcAft>
                          <a:spcPts val="0"/>
                        </a:spcAft>
                        <a:buNone/>
                      </a:pPr>
                      <a:r>
                        <a:t/>
                      </a:r>
                      <a:endParaRPr b="1" u="sng">
                        <a:solidFill>
                          <a:schemeClr val="lt1"/>
                        </a:solidFill>
                      </a:endParaRPr>
                    </a:p>
                    <a:p>
                      <a:pPr indent="0" lvl="0" marL="0" rtl="0" algn="l">
                        <a:spcBef>
                          <a:spcPts val="0"/>
                        </a:spcBef>
                        <a:spcAft>
                          <a:spcPts val="0"/>
                        </a:spcAft>
                        <a:buNone/>
                      </a:pPr>
                      <a:r>
                        <a:rPr lang="en">
                          <a:solidFill>
                            <a:schemeClr val="lt1"/>
                          </a:solidFill>
                        </a:rPr>
                        <a:t>Anova(model4, model3)</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lt1"/>
                          </a:solidFill>
                        </a:rPr>
                        <a:t>H0: B46=…B53=B54=0</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H1: at least one of the squared terms B’s is Nonzero</a:t>
                      </a:r>
                      <a:endParaRPr>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lt1"/>
                          </a:solidFill>
                        </a:rPr>
                        <a:t>P value = 2.2e-16 *** &lt; alpha = 0.05</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Reject H0, at least one of the squared terms is nonzero</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chemeClr val="lt1"/>
                          </a:solidFill>
                        </a:rPr>
                        <a:t>Complete 2nd Vs. Complete First</a:t>
                      </a:r>
                      <a:endParaRPr b="1">
                        <a:solidFill>
                          <a:schemeClr val="lt1"/>
                        </a:solidFill>
                      </a:endParaRPr>
                    </a:p>
                    <a:p>
                      <a:pPr indent="0" lvl="0" marL="0" rtl="0" algn="l">
                        <a:spcBef>
                          <a:spcPts val="0"/>
                        </a:spcBef>
                        <a:spcAft>
                          <a:spcPts val="0"/>
                        </a:spcAft>
                        <a:buNone/>
                      </a:pPr>
                      <a:r>
                        <a:t/>
                      </a:r>
                      <a:endParaRPr b="1" u="sng">
                        <a:solidFill>
                          <a:schemeClr val="lt1"/>
                        </a:solidFill>
                      </a:endParaRPr>
                    </a:p>
                    <a:p>
                      <a:pPr indent="0" lvl="0" marL="0" rtl="0" algn="l">
                        <a:spcBef>
                          <a:spcPts val="0"/>
                        </a:spcBef>
                        <a:spcAft>
                          <a:spcPts val="0"/>
                        </a:spcAft>
                        <a:buNone/>
                      </a:pPr>
                      <a:r>
                        <a:rPr lang="en">
                          <a:solidFill>
                            <a:schemeClr val="lt1"/>
                          </a:solidFill>
                        </a:rPr>
                        <a:t>Anova(model4, model1)</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lt1"/>
                          </a:solidFill>
                        </a:rPr>
                        <a:t>H0: B10=…B53=B54=0</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H1: at least one of the second order terms is Nonzero</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lt1"/>
                          </a:solidFill>
                        </a:rPr>
                        <a:t>P value = 2.2e-16 *** &lt; alpha = 0.05</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Reject H0, at least one of the second order terms is nonzero</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9" name="Shape 499"/>
        <p:cNvGrpSpPr/>
        <p:nvPr/>
      </p:nvGrpSpPr>
      <p:grpSpPr>
        <a:xfrm>
          <a:off x="0" y="0"/>
          <a:ext cx="0" cy="0"/>
          <a:chOff x="0" y="0"/>
          <a:chExt cx="0" cy="0"/>
        </a:xfrm>
      </p:grpSpPr>
      <p:sp>
        <p:nvSpPr>
          <p:cNvPr id="500" name="Google Shape;500;p77"/>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Model 4 wins!</a:t>
            </a:r>
            <a:endParaRPr sz="3600">
              <a:solidFill>
                <a:schemeClr val="lt1"/>
              </a:solidFill>
              <a:latin typeface="Hepta Slab"/>
              <a:ea typeface="Hepta Slab"/>
              <a:cs typeface="Hepta Slab"/>
              <a:sym typeface="Hepta Slab"/>
            </a:endParaRPr>
          </a:p>
        </p:txBody>
      </p:sp>
      <p:pic>
        <p:nvPicPr>
          <p:cNvPr id="501" name="Google Shape;501;p77"/>
          <p:cNvPicPr preferRelativeResize="0"/>
          <p:nvPr/>
        </p:nvPicPr>
        <p:blipFill>
          <a:blip r:embed="rId3">
            <a:alphaModFix/>
          </a:blip>
          <a:stretch>
            <a:fillRect/>
          </a:stretch>
        </p:blipFill>
        <p:spPr>
          <a:xfrm>
            <a:off x="2673950" y="966225"/>
            <a:ext cx="3695303" cy="3872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5" name="Shape 505"/>
        <p:cNvGrpSpPr/>
        <p:nvPr/>
      </p:nvGrpSpPr>
      <p:grpSpPr>
        <a:xfrm>
          <a:off x="0" y="0"/>
          <a:ext cx="0" cy="0"/>
          <a:chOff x="0" y="0"/>
          <a:chExt cx="0" cy="0"/>
        </a:xfrm>
      </p:grpSpPr>
      <p:pic>
        <p:nvPicPr>
          <p:cNvPr id="506" name="Google Shape;506;p78"/>
          <p:cNvPicPr preferRelativeResize="0"/>
          <p:nvPr/>
        </p:nvPicPr>
        <p:blipFill>
          <a:blip r:embed="rId3">
            <a:alphaModFix/>
          </a:blip>
          <a:stretch>
            <a:fillRect/>
          </a:stretch>
        </p:blipFill>
        <p:spPr>
          <a:xfrm>
            <a:off x="3926799" y="664550"/>
            <a:ext cx="4436926" cy="3814399"/>
          </a:xfrm>
          <a:prstGeom prst="rect">
            <a:avLst/>
          </a:prstGeom>
          <a:noFill/>
          <a:ln>
            <a:noFill/>
          </a:ln>
        </p:spPr>
      </p:pic>
      <p:sp>
        <p:nvSpPr>
          <p:cNvPr id="507" name="Google Shape;507;p78"/>
          <p:cNvSpPr txBox="1"/>
          <p:nvPr/>
        </p:nvSpPr>
        <p:spPr>
          <a:xfrm>
            <a:off x="155725" y="100125"/>
            <a:ext cx="8254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latin typeface="Hepta Slab"/>
                <a:ea typeface="Hepta Slab"/>
                <a:cs typeface="Hepta Slab"/>
                <a:sym typeface="Hepta Slab"/>
              </a:rPr>
              <a:t>Statistically </a:t>
            </a:r>
            <a:r>
              <a:rPr b="1" lang="en" sz="1900">
                <a:solidFill>
                  <a:schemeClr val="lt1"/>
                </a:solidFill>
                <a:latin typeface="Hepta Slab"/>
                <a:ea typeface="Hepta Slab"/>
                <a:cs typeface="Hepta Slab"/>
                <a:sym typeface="Hepta Slab"/>
              </a:rPr>
              <a:t>evaluating model utility - Global F test: </a:t>
            </a:r>
            <a:endParaRPr b="1" sz="1900">
              <a:solidFill>
                <a:schemeClr val="lt1"/>
              </a:solidFill>
              <a:latin typeface="Hepta Slab"/>
              <a:ea typeface="Hepta Slab"/>
              <a:cs typeface="Hepta Slab"/>
              <a:sym typeface="Hepta Slab"/>
            </a:endParaRPr>
          </a:p>
        </p:txBody>
      </p:sp>
      <p:sp>
        <p:nvSpPr>
          <p:cNvPr id="508" name="Google Shape;508;p78"/>
          <p:cNvSpPr txBox="1"/>
          <p:nvPr/>
        </p:nvSpPr>
        <p:spPr>
          <a:xfrm>
            <a:off x="210625" y="665100"/>
            <a:ext cx="3781200" cy="41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H0 : B1 = B2….= B53 = B54 = 0</a:t>
            </a:r>
            <a:endParaRPr sz="1800">
              <a:solidFill>
                <a:schemeClr val="lt1"/>
              </a:solidFill>
            </a:endParaRPr>
          </a:p>
          <a:p>
            <a:pPr indent="0" lvl="0" marL="0" rtl="0" algn="l">
              <a:spcBef>
                <a:spcPts val="0"/>
              </a:spcBef>
              <a:spcAft>
                <a:spcPts val="0"/>
              </a:spcAft>
              <a:buNone/>
            </a:pPr>
            <a:r>
              <a:rPr lang="en" sz="1800">
                <a:solidFill>
                  <a:schemeClr val="lt1"/>
                </a:solidFill>
              </a:rPr>
              <a:t>Ha : at least one Bi /= 0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rPr lang="en" sz="1800">
                <a:solidFill>
                  <a:schemeClr val="lt1"/>
                </a:solidFill>
              </a:rPr>
              <a:t>Reject H0</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rPr lang="en" sz="1800">
                <a:solidFill>
                  <a:schemeClr val="lt1"/>
                </a:solidFill>
              </a:rPr>
              <a:t>The extremely small p value indicates that the model is statistically adequate (&lt;0.05). The additional predictors significantly improve the fit. </a:t>
            </a:r>
            <a:endParaRPr sz="18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2" name="Shape 512"/>
        <p:cNvGrpSpPr/>
        <p:nvPr/>
      </p:nvGrpSpPr>
      <p:grpSpPr>
        <a:xfrm>
          <a:off x="0" y="0"/>
          <a:ext cx="0" cy="0"/>
          <a:chOff x="0" y="0"/>
          <a:chExt cx="0" cy="0"/>
        </a:xfrm>
      </p:grpSpPr>
      <p:pic>
        <p:nvPicPr>
          <p:cNvPr id="513" name="Google Shape;513;p79"/>
          <p:cNvPicPr preferRelativeResize="0"/>
          <p:nvPr/>
        </p:nvPicPr>
        <p:blipFill rotWithShape="1">
          <a:blip r:embed="rId3">
            <a:alphaModFix/>
          </a:blip>
          <a:srcRect b="0" l="0" r="42634" t="89209"/>
          <a:stretch/>
        </p:blipFill>
        <p:spPr>
          <a:xfrm>
            <a:off x="3991823" y="722853"/>
            <a:ext cx="5152174" cy="833148"/>
          </a:xfrm>
          <a:prstGeom prst="rect">
            <a:avLst/>
          </a:prstGeom>
          <a:noFill/>
          <a:ln>
            <a:noFill/>
          </a:ln>
        </p:spPr>
      </p:pic>
      <p:sp>
        <p:nvSpPr>
          <p:cNvPr id="514" name="Google Shape;514;p79"/>
          <p:cNvSpPr txBox="1"/>
          <p:nvPr/>
        </p:nvSpPr>
        <p:spPr>
          <a:xfrm>
            <a:off x="155725" y="100125"/>
            <a:ext cx="8254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rPr>
              <a:t>Statistically evaluating model utility - Global F test: </a:t>
            </a:r>
            <a:endParaRPr b="1" sz="1900">
              <a:solidFill>
                <a:schemeClr val="lt1"/>
              </a:solidFill>
            </a:endParaRPr>
          </a:p>
        </p:txBody>
      </p:sp>
      <p:sp>
        <p:nvSpPr>
          <p:cNvPr id="515" name="Google Shape;515;p79"/>
          <p:cNvSpPr txBox="1"/>
          <p:nvPr/>
        </p:nvSpPr>
        <p:spPr>
          <a:xfrm>
            <a:off x="210625" y="665100"/>
            <a:ext cx="3781200" cy="41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Residual Standard Error:</a:t>
            </a:r>
            <a:endParaRPr sz="1800">
              <a:solidFill>
                <a:schemeClr val="lt1"/>
              </a:solidFill>
            </a:endParaRPr>
          </a:p>
          <a:p>
            <a:pPr indent="0" lvl="0" marL="0" rtl="0" algn="l">
              <a:spcBef>
                <a:spcPts val="0"/>
              </a:spcBef>
              <a:spcAft>
                <a:spcPts val="0"/>
              </a:spcAft>
              <a:buNone/>
            </a:pPr>
            <a:r>
              <a:rPr lang="en" sz="1800">
                <a:solidFill>
                  <a:schemeClr val="lt1"/>
                </a:solidFill>
              </a:rPr>
              <a:t>The complete second order model can predict life expectancy within 2s = 6.216 years of its true value.</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rPr lang="en" sz="1800">
                <a:solidFill>
                  <a:schemeClr val="lt1"/>
                </a:solidFill>
              </a:rPr>
              <a:t>Coefficient of Variation: </a:t>
            </a:r>
            <a:endParaRPr sz="1800">
              <a:solidFill>
                <a:schemeClr val="lt1"/>
              </a:solidFill>
            </a:endParaRPr>
          </a:p>
          <a:p>
            <a:pPr indent="0" lvl="0" marL="0" rtl="0" algn="l">
              <a:spcBef>
                <a:spcPts val="0"/>
              </a:spcBef>
              <a:spcAft>
                <a:spcPts val="0"/>
              </a:spcAft>
              <a:buNone/>
            </a:pPr>
            <a:r>
              <a:rPr lang="en" sz="1800">
                <a:solidFill>
                  <a:schemeClr val="lt1"/>
                </a:solidFill>
              </a:rPr>
              <a:t>CV = 4.51</a:t>
            </a:r>
            <a:endParaRPr sz="1800">
              <a:solidFill>
                <a:schemeClr val="lt1"/>
              </a:solidFill>
            </a:endParaRPr>
          </a:p>
          <a:p>
            <a:pPr indent="0" lvl="0" marL="0" rtl="0" algn="l">
              <a:spcBef>
                <a:spcPts val="0"/>
              </a:spcBef>
              <a:spcAft>
                <a:spcPts val="0"/>
              </a:spcAft>
              <a:buNone/>
            </a:pPr>
            <a:r>
              <a:rPr lang="en" sz="1800">
                <a:solidFill>
                  <a:schemeClr val="lt1"/>
                </a:solidFill>
              </a:rPr>
              <a:t>Relatively low, less than 10%</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rPr lang="en" sz="1800">
                <a:solidFill>
                  <a:schemeClr val="lt1"/>
                </a:solidFill>
              </a:rPr>
              <a:t>Adjusted R^2:</a:t>
            </a:r>
            <a:endParaRPr sz="1800">
              <a:solidFill>
                <a:schemeClr val="lt1"/>
              </a:solidFill>
            </a:endParaRPr>
          </a:p>
          <a:p>
            <a:pPr indent="0" lvl="0" marL="0" rtl="0" algn="l">
              <a:spcBef>
                <a:spcPts val="0"/>
              </a:spcBef>
              <a:spcAft>
                <a:spcPts val="0"/>
              </a:spcAft>
              <a:buNone/>
            </a:pPr>
            <a:r>
              <a:rPr lang="en" sz="1800">
                <a:solidFill>
                  <a:schemeClr val="lt1"/>
                </a:solidFill>
              </a:rPr>
              <a:t>89.09% of the variance of life expectancy data is explained by the complete 2nd order model.</a:t>
            </a:r>
            <a:endParaRPr sz="1800">
              <a:solidFill>
                <a:schemeClr val="lt1"/>
              </a:solidFill>
            </a:endParaRPr>
          </a:p>
        </p:txBody>
      </p:sp>
      <p:pic>
        <p:nvPicPr>
          <p:cNvPr id="516" name="Google Shape;516;p79"/>
          <p:cNvPicPr preferRelativeResize="0"/>
          <p:nvPr/>
        </p:nvPicPr>
        <p:blipFill>
          <a:blip r:embed="rId4">
            <a:alphaModFix/>
          </a:blip>
          <a:stretch>
            <a:fillRect/>
          </a:stretch>
        </p:blipFill>
        <p:spPr>
          <a:xfrm>
            <a:off x="4081475" y="1767126"/>
            <a:ext cx="4191000" cy="685800"/>
          </a:xfrm>
          <a:prstGeom prst="rect">
            <a:avLst/>
          </a:prstGeom>
          <a:noFill/>
          <a:ln>
            <a:noFill/>
          </a:ln>
        </p:spPr>
      </p:pic>
      <p:pic>
        <p:nvPicPr>
          <p:cNvPr id="517" name="Google Shape;517;p79"/>
          <p:cNvPicPr preferRelativeResize="0"/>
          <p:nvPr/>
        </p:nvPicPr>
        <p:blipFill>
          <a:blip r:embed="rId5">
            <a:alphaModFix/>
          </a:blip>
          <a:stretch>
            <a:fillRect/>
          </a:stretch>
        </p:blipFill>
        <p:spPr>
          <a:xfrm>
            <a:off x="4144225" y="2605326"/>
            <a:ext cx="4076700" cy="1047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1" name="Shape 521"/>
        <p:cNvGrpSpPr/>
        <p:nvPr/>
      </p:nvGrpSpPr>
      <p:grpSpPr>
        <a:xfrm>
          <a:off x="0" y="0"/>
          <a:ext cx="0" cy="0"/>
          <a:chOff x="0" y="0"/>
          <a:chExt cx="0" cy="0"/>
        </a:xfrm>
      </p:grpSpPr>
      <p:sp>
        <p:nvSpPr>
          <p:cNvPr id="522" name="Google Shape;522;p80"/>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en" sz="3600">
                <a:solidFill>
                  <a:schemeClr val="lt1"/>
                </a:solidFill>
                <a:latin typeface="Hepta Slab"/>
                <a:ea typeface="Hepta Slab"/>
                <a:cs typeface="Hepta Slab"/>
                <a:sym typeface="Hepta Slab"/>
              </a:rPr>
              <a:t>Equation of Complete 2nd Order Model</a:t>
            </a:r>
            <a:endParaRPr sz="3600">
              <a:solidFill>
                <a:schemeClr val="lt1"/>
              </a:solidFill>
              <a:latin typeface="Hepta Slab"/>
              <a:ea typeface="Hepta Slab"/>
              <a:cs typeface="Hepta Slab"/>
              <a:sym typeface="Hepta Slab"/>
            </a:endParaRPr>
          </a:p>
        </p:txBody>
      </p:sp>
      <p:pic>
        <p:nvPicPr>
          <p:cNvPr id="523" name="Google Shape;523;p80"/>
          <p:cNvPicPr preferRelativeResize="0"/>
          <p:nvPr/>
        </p:nvPicPr>
        <p:blipFill rotWithShape="1">
          <a:blip r:embed="rId3">
            <a:alphaModFix/>
          </a:blip>
          <a:srcRect b="0" l="0" r="0" t="6165"/>
          <a:stretch/>
        </p:blipFill>
        <p:spPr>
          <a:xfrm>
            <a:off x="365675" y="1106375"/>
            <a:ext cx="8652549" cy="3633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7" name="Shape 527"/>
        <p:cNvGrpSpPr/>
        <p:nvPr/>
      </p:nvGrpSpPr>
      <p:grpSpPr>
        <a:xfrm>
          <a:off x="0" y="0"/>
          <a:ext cx="0" cy="0"/>
          <a:chOff x="0" y="0"/>
          <a:chExt cx="0" cy="0"/>
        </a:xfrm>
      </p:grpSpPr>
      <p:sp>
        <p:nvSpPr>
          <p:cNvPr id="528" name="Google Shape;528;p81"/>
          <p:cNvSpPr txBox="1"/>
          <p:nvPr>
            <p:ph idx="1" type="subTitle"/>
          </p:nvPr>
        </p:nvSpPr>
        <p:spPr>
          <a:xfrm>
            <a:off x="311700" y="17362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solidFill>
                  <a:schemeClr val="lt1"/>
                </a:solidFill>
                <a:latin typeface="Hepta Slab"/>
                <a:ea typeface="Hepta Slab"/>
                <a:cs typeface="Hepta Slab"/>
                <a:sym typeface="Hepta Slab"/>
              </a:rPr>
              <a:t>Residual Analysis </a:t>
            </a:r>
            <a:endParaRPr sz="3600">
              <a:solidFill>
                <a:schemeClr val="lt1"/>
              </a:solidFill>
              <a:latin typeface="Hepta Slab"/>
              <a:ea typeface="Hepta Slab"/>
              <a:cs typeface="Hepta Slab"/>
              <a:sym typeface="Hepta Slab"/>
            </a:endParaRPr>
          </a:p>
        </p:txBody>
      </p:sp>
      <p:pic>
        <p:nvPicPr>
          <p:cNvPr id="529" name="Google Shape;529;p81"/>
          <p:cNvPicPr preferRelativeResize="0"/>
          <p:nvPr/>
        </p:nvPicPr>
        <p:blipFill>
          <a:blip r:embed="rId3">
            <a:alphaModFix/>
          </a:blip>
          <a:stretch>
            <a:fillRect/>
          </a:stretch>
        </p:blipFill>
        <p:spPr>
          <a:xfrm>
            <a:off x="167400" y="1377075"/>
            <a:ext cx="1681824" cy="1544899"/>
          </a:xfrm>
          <a:prstGeom prst="rect">
            <a:avLst/>
          </a:prstGeom>
          <a:noFill/>
          <a:ln>
            <a:noFill/>
          </a:ln>
        </p:spPr>
      </p:pic>
      <p:pic>
        <p:nvPicPr>
          <p:cNvPr id="530" name="Google Shape;530;p81"/>
          <p:cNvPicPr preferRelativeResize="0"/>
          <p:nvPr/>
        </p:nvPicPr>
        <p:blipFill>
          <a:blip r:embed="rId4">
            <a:alphaModFix/>
          </a:blip>
          <a:stretch>
            <a:fillRect/>
          </a:stretch>
        </p:blipFill>
        <p:spPr>
          <a:xfrm>
            <a:off x="2014150" y="1059159"/>
            <a:ext cx="2548024" cy="1943117"/>
          </a:xfrm>
          <a:prstGeom prst="rect">
            <a:avLst/>
          </a:prstGeom>
          <a:noFill/>
          <a:ln>
            <a:noFill/>
          </a:ln>
        </p:spPr>
      </p:pic>
      <p:sp>
        <p:nvSpPr>
          <p:cNvPr id="531" name="Google Shape;531;p81"/>
          <p:cNvSpPr txBox="1"/>
          <p:nvPr/>
        </p:nvSpPr>
        <p:spPr>
          <a:xfrm>
            <a:off x="-106050" y="3168425"/>
            <a:ext cx="2831400" cy="111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a:solidFill>
                  <a:schemeClr val="lt1"/>
                </a:solidFill>
              </a:rPr>
              <a:t>Random scatter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Subtle signs of </a:t>
            </a:r>
            <a:r>
              <a:rPr lang="en">
                <a:solidFill>
                  <a:schemeClr val="lt1"/>
                </a:solidFill>
              </a:rPr>
              <a:t>nonlinearity</a:t>
            </a:r>
            <a:r>
              <a:rPr lang="en">
                <a:solidFill>
                  <a:schemeClr val="lt1"/>
                </a:solidFill>
              </a:rPr>
              <a:t> as there is more spread in lower-fitted values than higher-fitted values❗but nothing major</a:t>
            </a:r>
            <a:endParaRPr>
              <a:solidFill>
                <a:schemeClr val="lt1"/>
              </a:solidFill>
            </a:endParaRPr>
          </a:p>
        </p:txBody>
      </p:sp>
      <p:sp>
        <p:nvSpPr>
          <p:cNvPr id="532" name="Google Shape;532;p81"/>
          <p:cNvSpPr txBox="1"/>
          <p:nvPr/>
        </p:nvSpPr>
        <p:spPr>
          <a:xfrm>
            <a:off x="2285475" y="3120325"/>
            <a:ext cx="2428800" cy="111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a:solidFill>
                  <a:schemeClr val="lt1"/>
                </a:solidFill>
              </a:rPr>
              <a:t>Follows a normal distribution</a:t>
            </a:r>
            <a:r>
              <a:rPr lang="en">
                <a:solidFill>
                  <a:schemeClr val="lt1"/>
                </a:solidFill>
              </a:rPr>
              <a:t> and centering around 0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Approximately normally distributed </a:t>
            </a:r>
            <a:endParaRPr>
              <a:solidFill>
                <a:schemeClr val="lt1"/>
              </a:solidFill>
            </a:endParaRPr>
          </a:p>
        </p:txBody>
      </p:sp>
      <p:pic>
        <p:nvPicPr>
          <p:cNvPr id="533" name="Google Shape;533;p81"/>
          <p:cNvPicPr preferRelativeResize="0"/>
          <p:nvPr/>
        </p:nvPicPr>
        <p:blipFill>
          <a:blip r:embed="rId5">
            <a:alphaModFix/>
          </a:blip>
          <a:stretch>
            <a:fillRect/>
          </a:stretch>
        </p:blipFill>
        <p:spPr>
          <a:xfrm>
            <a:off x="4714125" y="1165357"/>
            <a:ext cx="2041999" cy="1836921"/>
          </a:xfrm>
          <a:prstGeom prst="rect">
            <a:avLst/>
          </a:prstGeom>
          <a:noFill/>
          <a:ln>
            <a:noFill/>
          </a:ln>
        </p:spPr>
      </p:pic>
      <p:sp>
        <p:nvSpPr>
          <p:cNvPr id="534" name="Google Shape;534;p81"/>
          <p:cNvSpPr txBox="1"/>
          <p:nvPr/>
        </p:nvSpPr>
        <p:spPr>
          <a:xfrm>
            <a:off x="4386738" y="3120325"/>
            <a:ext cx="2831400" cy="111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a:solidFill>
                  <a:schemeClr val="lt1"/>
                </a:solidFill>
              </a:rPr>
              <a:t>Mainly close to straight line – normality assumption holds</a:t>
            </a:r>
            <a:r>
              <a:rPr lang="en">
                <a:solidFill>
                  <a:schemeClr val="lt1"/>
                </a:solidFill>
              </a:rPr>
              <a:t>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Tails deviate❗but not significant enough to invalidate model</a:t>
            </a:r>
            <a:endParaRPr>
              <a:solidFill>
                <a:schemeClr val="lt1"/>
              </a:solidFill>
            </a:endParaRPr>
          </a:p>
        </p:txBody>
      </p:sp>
      <p:pic>
        <p:nvPicPr>
          <p:cNvPr id="535" name="Google Shape;535;p81"/>
          <p:cNvPicPr preferRelativeResize="0"/>
          <p:nvPr/>
        </p:nvPicPr>
        <p:blipFill>
          <a:blip r:embed="rId6">
            <a:alphaModFix/>
          </a:blip>
          <a:stretch>
            <a:fillRect/>
          </a:stretch>
        </p:blipFill>
        <p:spPr>
          <a:xfrm>
            <a:off x="6981199" y="1302700"/>
            <a:ext cx="2041999" cy="1693650"/>
          </a:xfrm>
          <a:prstGeom prst="rect">
            <a:avLst/>
          </a:prstGeom>
          <a:noFill/>
          <a:ln>
            <a:noFill/>
          </a:ln>
        </p:spPr>
      </p:pic>
      <p:sp>
        <p:nvSpPr>
          <p:cNvPr id="536" name="Google Shape;536;p81"/>
          <p:cNvSpPr txBox="1"/>
          <p:nvPr/>
        </p:nvSpPr>
        <p:spPr>
          <a:xfrm>
            <a:off x="6938550" y="3120325"/>
            <a:ext cx="2127300" cy="1518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a:solidFill>
                  <a:schemeClr val="lt1"/>
                </a:solidFill>
              </a:rPr>
              <a:t>Indicates mild heteroscedasticity because the variance of residuals is not perfectly uniform </a:t>
            </a: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2"/>
          <p:cNvSpPr txBox="1"/>
          <p:nvPr>
            <p:ph idx="4294967295" type="body"/>
          </p:nvPr>
        </p:nvSpPr>
        <p:spPr>
          <a:xfrm>
            <a:off x="464225" y="1248825"/>
            <a:ext cx="7954200" cy="37524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Clr>
                <a:schemeClr val="dk1"/>
              </a:buClr>
              <a:buSzPts val="2700"/>
              <a:buChar char="●"/>
            </a:pPr>
            <a:r>
              <a:rPr b="1" lang="en" sz="2700">
                <a:solidFill>
                  <a:schemeClr val="dk1"/>
                </a:solidFill>
                <a:latin typeface="Barlow"/>
                <a:ea typeface="Barlow"/>
                <a:cs typeface="Barlow"/>
                <a:sym typeface="Barlow"/>
              </a:rPr>
              <a:t>Dependent variable</a:t>
            </a:r>
            <a:r>
              <a:rPr lang="en" sz="2700">
                <a:solidFill>
                  <a:schemeClr val="dk1"/>
                </a:solidFill>
              </a:rPr>
              <a:t>: Life_expectancy</a:t>
            </a:r>
            <a:endParaRPr sz="2700">
              <a:solidFill>
                <a:schemeClr val="dk1"/>
              </a:solidFill>
            </a:endParaRPr>
          </a:p>
          <a:p>
            <a:pPr indent="-400050" lvl="0" marL="457200" rtl="0" algn="l">
              <a:spcBef>
                <a:spcPts val="0"/>
              </a:spcBef>
              <a:spcAft>
                <a:spcPts val="0"/>
              </a:spcAft>
              <a:buClr>
                <a:schemeClr val="dk1"/>
              </a:buClr>
              <a:buSzPts val="2700"/>
              <a:buChar char="●"/>
            </a:pPr>
            <a:r>
              <a:rPr b="1" lang="en" sz="2700">
                <a:solidFill>
                  <a:schemeClr val="dk1"/>
                </a:solidFill>
                <a:latin typeface="Barlow"/>
                <a:ea typeface="Barlow"/>
                <a:cs typeface="Barlow"/>
                <a:sym typeface="Barlow"/>
              </a:rPr>
              <a:t>Independent variables (</a:t>
            </a:r>
            <a:r>
              <a:rPr b="1" lang="en" sz="2700">
                <a:latin typeface="Barlow"/>
                <a:ea typeface="Barlow"/>
                <a:cs typeface="Barlow"/>
                <a:sym typeface="Barlow"/>
              </a:rPr>
              <a:t>9</a:t>
            </a:r>
            <a:r>
              <a:rPr b="1" lang="en" sz="2700">
                <a:solidFill>
                  <a:schemeClr val="dk1"/>
                </a:solidFill>
                <a:latin typeface="Barlow"/>
                <a:ea typeface="Barlow"/>
                <a:cs typeface="Barlow"/>
                <a:sym typeface="Barlow"/>
              </a:rPr>
              <a:t>)</a:t>
            </a:r>
            <a:r>
              <a:rPr lang="en" sz="2700">
                <a:solidFill>
                  <a:schemeClr val="dk1"/>
                </a:solidFill>
              </a:rPr>
              <a:t>: </a:t>
            </a:r>
            <a:endParaRPr sz="2700">
              <a:solidFill>
                <a:schemeClr val="dk1"/>
              </a:solidFill>
            </a:endParaRPr>
          </a:p>
          <a:p>
            <a:pPr indent="0" lvl="0" marL="457200" rtl="0" algn="l">
              <a:spcBef>
                <a:spcPts val="0"/>
              </a:spcBef>
              <a:spcAft>
                <a:spcPts val="0"/>
              </a:spcAft>
              <a:buNone/>
            </a:pPr>
            <a:r>
              <a:rPr lang="en" sz="2700">
                <a:solidFill>
                  <a:schemeClr val="dk1"/>
                </a:solidFill>
              </a:rPr>
              <a:t>Hepatitis_B, Measles, BMI, Incidents_HIV, GDP_per_capita, Population_mln, Thinness_ten_nineteen_years, Thinness_five_nine_years, Schooling</a:t>
            </a:r>
            <a:endParaRPr sz="3400">
              <a:solidFill>
                <a:schemeClr val="dk1"/>
              </a:solidFill>
            </a:endParaRPr>
          </a:p>
        </p:txBody>
      </p:sp>
      <p:sp>
        <p:nvSpPr>
          <p:cNvPr id="542" name="Google Shape;542;p82"/>
          <p:cNvSpPr txBox="1"/>
          <p:nvPr>
            <p:ph type="title"/>
          </p:nvPr>
        </p:nvSpPr>
        <p:spPr>
          <a:xfrm>
            <a:off x="344225" y="136800"/>
            <a:ext cx="8961300" cy="966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 Prediction at the Country level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413E3E"/>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